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487" r:id="rId2"/>
    <p:sldId id="488" r:id="rId3"/>
    <p:sldId id="489" r:id="rId4"/>
    <p:sldId id="495" r:id="rId5"/>
    <p:sldId id="490" r:id="rId6"/>
    <p:sldId id="491" r:id="rId7"/>
    <p:sldId id="493" r:id="rId8"/>
    <p:sldId id="494" r:id="rId9"/>
    <p:sldId id="526" r:id="rId10"/>
    <p:sldId id="496" r:id="rId11"/>
    <p:sldId id="497" r:id="rId12"/>
    <p:sldId id="498" r:id="rId13"/>
    <p:sldId id="499" r:id="rId14"/>
    <p:sldId id="500" r:id="rId15"/>
    <p:sldId id="501" r:id="rId16"/>
    <p:sldId id="502" r:id="rId17"/>
    <p:sldId id="503" r:id="rId18"/>
    <p:sldId id="533" r:id="rId19"/>
    <p:sldId id="506" r:id="rId20"/>
    <p:sldId id="507" r:id="rId21"/>
    <p:sldId id="541" r:id="rId22"/>
    <p:sldId id="542" r:id="rId23"/>
    <p:sldId id="540" r:id="rId24"/>
    <p:sldId id="534" r:id="rId25"/>
    <p:sldId id="508" r:id="rId26"/>
    <p:sldId id="509" r:id="rId27"/>
    <p:sldId id="510" r:id="rId28"/>
    <p:sldId id="511" r:id="rId29"/>
    <p:sldId id="512" r:id="rId30"/>
    <p:sldId id="513" r:id="rId31"/>
    <p:sldId id="514" r:id="rId32"/>
    <p:sldId id="515" r:id="rId33"/>
    <p:sldId id="516" r:id="rId3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DFED"/>
    <a:srgbClr val="17DDEC"/>
    <a:srgbClr val="5B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7" autoAdjust="0"/>
    <p:restoredTop sz="94660"/>
  </p:normalViewPr>
  <p:slideViewPr>
    <p:cSldViewPr>
      <p:cViewPr varScale="1">
        <p:scale>
          <a:sx n="108" d="100"/>
          <a:sy n="108" d="100"/>
        </p:scale>
        <p:origin x="690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toliy Kigel" userId="7432c6c4687b0a9c" providerId="LiveId" clId="{92F6796E-C9D8-41DB-88D3-40AEDBA6923F}"/>
    <pc:docChg chg="undo custSel addSld delSld modSld">
      <pc:chgData name="Anatoliy Kigel" userId="7432c6c4687b0a9c" providerId="LiveId" clId="{92F6796E-C9D8-41DB-88D3-40AEDBA6923F}" dt="2021-03-25T10:44:55.111" v="28" actId="20577"/>
      <pc:docMkLst>
        <pc:docMk/>
      </pc:docMkLst>
      <pc:sldChg chg="modSp mod">
        <pc:chgData name="Anatoliy Kigel" userId="7432c6c4687b0a9c" providerId="LiveId" clId="{92F6796E-C9D8-41DB-88D3-40AEDBA6923F}" dt="2021-03-25T10:43:01.996" v="19" actId="20577"/>
        <pc:sldMkLst>
          <pc:docMk/>
          <pc:sldMk cId="2729060290" sldId="488"/>
        </pc:sldMkLst>
        <pc:spChg chg="mod">
          <ac:chgData name="Anatoliy Kigel" userId="7432c6c4687b0a9c" providerId="LiveId" clId="{92F6796E-C9D8-41DB-88D3-40AEDBA6923F}" dt="2021-03-25T10:42:50.813" v="1" actId="20577"/>
          <ac:spMkLst>
            <pc:docMk/>
            <pc:sldMk cId="2729060290" sldId="488"/>
            <ac:spMk id="2" creationId="{00000000-0000-0000-0000-000000000000}"/>
          </ac:spMkLst>
        </pc:spChg>
        <pc:spChg chg="mod">
          <ac:chgData name="Anatoliy Kigel" userId="7432c6c4687b0a9c" providerId="LiveId" clId="{92F6796E-C9D8-41DB-88D3-40AEDBA6923F}" dt="2021-03-25T10:43:01.996" v="19" actId="20577"/>
          <ac:spMkLst>
            <pc:docMk/>
            <pc:sldMk cId="2729060290" sldId="488"/>
            <ac:spMk id="10" creationId="{00000000-0000-0000-0000-000000000000}"/>
          </ac:spMkLst>
        </pc:spChg>
      </pc:sldChg>
      <pc:sldChg chg="modSp add del mod">
        <pc:chgData name="Anatoliy Kigel" userId="7432c6c4687b0a9c" providerId="LiveId" clId="{92F6796E-C9D8-41DB-88D3-40AEDBA6923F}" dt="2021-03-25T10:44:52.115" v="27" actId="20577"/>
        <pc:sldMkLst>
          <pc:docMk/>
          <pc:sldMk cId="3580766381" sldId="508"/>
        </pc:sldMkLst>
        <pc:spChg chg="mod">
          <ac:chgData name="Anatoliy Kigel" userId="7432c6c4687b0a9c" providerId="LiveId" clId="{92F6796E-C9D8-41DB-88D3-40AEDBA6923F}" dt="2021-03-25T10:44:52.115" v="27" actId="20577"/>
          <ac:spMkLst>
            <pc:docMk/>
            <pc:sldMk cId="3580766381" sldId="508"/>
            <ac:spMk id="5" creationId="{00000000-0000-0000-0000-000000000000}"/>
          </ac:spMkLst>
        </pc:spChg>
      </pc:sldChg>
      <pc:sldChg chg="add del">
        <pc:chgData name="Anatoliy Kigel" userId="7432c6c4687b0a9c" providerId="LiveId" clId="{92F6796E-C9D8-41DB-88D3-40AEDBA6923F}" dt="2021-03-25T10:44:49.006" v="26" actId="47"/>
        <pc:sldMkLst>
          <pc:docMk/>
          <pc:sldMk cId="2423965935" sldId="509"/>
        </pc:sldMkLst>
      </pc:sldChg>
      <pc:sldChg chg="modSp mod">
        <pc:chgData name="Anatoliy Kigel" userId="7432c6c4687b0a9c" providerId="LiveId" clId="{92F6796E-C9D8-41DB-88D3-40AEDBA6923F}" dt="2021-03-25T10:44:55.111" v="28" actId="20577"/>
        <pc:sldMkLst>
          <pc:docMk/>
          <pc:sldMk cId="699795220" sldId="510"/>
        </pc:sldMkLst>
        <pc:spChg chg="mod">
          <ac:chgData name="Anatoliy Kigel" userId="7432c6c4687b0a9c" providerId="LiveId" clId="{92F6796E-C9D8-41DB-88D3-40AEDBA6923F}" dt="2021-03-25T10:44:55.111" v="28" actId="20577"/>
          <ac:spMkLst>
            <pc:docMk/>
            <pc:sldMk cId="699795220" sldId="510"/>
            <ac:spMk id="5" creationId="{00000000-0000-0000-0000-000000000000}"/>
          </ac:spMkLst>
        </pc:spChg>
      </pc:sldChg>
      <pc:sldChg chg="modSp mod">
        <pc:chgData name="Anatoliy Kigel" userId="7432c6c4687b0a9c" providerId="LiveId" clId="{92F6796E-C9D8-41DB-88D3-40AEDBA6923F}" dt="2021-03-25T10:44:11.564" v="21" actId="20577"/>
        <pc:sldMkLst>
          <pc:docMk/>
          <pc:sldMk cId="1324903261" sldId="533"/>
        </pc:sldMkLst>
        <pc:spChg chg="mod">
          <ac:chgData name="Anatoliy Kigel" userId="7432c6c4687b0a9c" providerId="LiveId" clId="{92F6796E-C9D8-41DB-88D3-40AEDBA6923F}" dt="2021-03-25T10:44:11.564" v="21" actId="20577"/>
          <ac:spMkLst>
            <pc:docMk/>
            <pc:sldMk cId="1324903261" sldId="533"/>
            <ac:spMk id="5" creationId="{00000000-0000-0000-0000-000000000000}"/>
          </ac:spMkLst>
        </pc:spChg>
      </pc:sldChg>
      <pc:sldChg chg="del">
        <pc:chgData name="Anatoliy Kigel" userId="7432c6c4687b0a9c" providerId="LiveId" clId="{92F6796E-C9D8-41DB-88D3-40AEDBA6923F}" dt="2021-03-25T10:44:07.635" v="20" actId="47"/>
        <pc:sldMkLst>
          <pc:docMk/>
          <pc:sldMk cId="3059800633" sldId="535"/>
        </pc:sldMkLst>
      </pc:sldChg>
      <pc:sldChg chg="del">
        <pc:chgData name="Anatoliy Kigel" userId="7432c6c4687b0a9c" providerId="LiveId" clId="{92F6796E-C9D8-41DB-88D3-40AEDBA6923F}" dt="2021-03-25T10:44:07.635" v="20" actId="47"/>
        <pc:sldMkLst>
          <pc:docMk/>
          <pc:sldMk cId="3331524151" sldId="537"/>
        </pc:sldMkLst>
      </pc:sldChg>
      <pc:sldChg chg="del">
        <pc:chgData name="Anatoliy Kigel" userId="7432c6c4687b0a9c" providerId="LiveId" clId="{92F6796E-C9D8-41DB-88D3-40AEDBA6923F}" dt="2021-03-25T10:44:07.635" v="20" actId="47"/>
        <pc:sldMkLst>
          <pc:docMk/>
          <pc:sldMk cId="800611333" sldId="538"/>
        </pc:sldMkLst>
      </pc:sldChg>
      <pc:sldChg chg="del">
        <pc:chgData name="Anatoliy Kigel" userId="7432c6c4687b0a9c" providerId="LiveId" clId="{92F6796E-C9D8-41DB-88D3-40AEDBA6923F}" dt="2021-03-25T10:44:07.635" v="20" actId="47"/>
        <pc:sldMkLst>
          <pc:docMk/>
          <pc:sldMk cId="3697837086" sldId="539"/>
        </pc:sldMkLst>
      </pc:sldChg>
      <pc:sldChg chg="modSp mod">
        <pc:chgData name="Anatoliy Kigel" userId="7432c6c4687b0a9c" providerId="LiveId" clId="{92F6796E-C9D8-41DB-88D3-40AEDBA6923F}" dt="2021-03-25T10:44:22.218" v="24" actId="20577"/>
        <pc:sldMkLst>
          <pc:docMk/>
          <pc:sldMk cId="4268157783" sldId="540"/>
        </pc:sldMkLst>
        <pc:spChg chg="mod">
          <ac:chgData name="Anatoliy Kigel" userId="7432c6c4687b0a9c" providerId="LiveId" clId="{92F6796E-C9D8-41DB-88D3-40AEDBA6923F}" dt="2021-03-25T10:44:22.218" v="24" actId="20577"/>
          <ac:spMkLst>
            <pc:docMk/>
            <pc:sldMk cId="4268157783" sldId="540"/>
            <ac:spMk id="5" creationId="{00000000-0000-0000-0000-000000000000}"/>
          </ac:spMkLst>
        </pc:spChg>
      </pc:sldChg>
      <pc:sldChg chg="modSp mod">
        <pc:chgData name="Anatoliy Kigel" userId="7432c6c4687b0a9c" providerId="LiveId" clId="{92F6796E-C9D8-41DB-88D3-40AEDBA6923F}" dt="2021-03-25T10:44:16.035" v="22" actId="20577"/>
        <pc:sldMkLst>
          <pc:docMk/>
          <pc:sldMk cId="1861146563" sldId="541"/>
        </pc:sldMkLst>
        <pc:spChg chg="mod">
          <ac:chgData name="Anatoliy Kigel" userId="7432c6c4687b0a9c" providerId="LiveId" clId="{92F6796E-C9D8-41DB-88D3-40AEDBA6923F}" dt="2021-03-25T10:44:16.035" v="22" actId="20577"/>
          <ac:spMkLst>
            <pc:docMk/>
            <pc:sldMk cId="1861146563" sldId="54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22811-C5C6-42D2-A409-F8556720C93F}" type="datetimeFigureOut">
              <a:rPr lang="uk-UA" smtClean="0"/>
              <a:pPr/>
              <a:t>25.03.2021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68688-711B-4328-ACFB-54B46FA90133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7365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htmlbook.ru/html/img/align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66139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5586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6486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align</a:t>
            </a:r>
            <a:r>
              <a:rPr lang="en-US" dirty="0"/>
              <a:t> 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9129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5922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6216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B0D-6115-4D7C-8040-9C8E2349BB6E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D9C5-7FF1-434F-B56E-9BAD559744E9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FC9-DE63-476B-A1A9-BE934D9049F8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460F-86E2-4DF6-9D0F-12F5005CF375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1715E-DDCD-4267-B0A5-2918B6F6768A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9842C-EB2D-4EBB-A272-2F6A49D9794D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6F091-B700-4B52-99AC-85D0FD94D904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DFABA-3811-4634-B803-2EAC4CD0063B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25E-F88E-463A-A119-D1E55A881002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67BA-0A39-4DE2-BFC3-D5290044365E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6A67F-6C29-47DC-AF8A-FDB3C787DF70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8ED03-0080-49A2-B709-7DA4ACB3A1C3}" type="datetime1">
              <a:rPr lang="uk-UA" smtClean="0"/>
              <a:pPr/>
              <a:t>25.03.2021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AA22-90B4-448C-8B6B-C699140D38B9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.visualstudio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.visualstudio.com/" TargetMode="Externa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ref.ru/html/im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ref.ru/html/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siter.ru/tutorials/html5/semantic_elements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validator.w3.org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ritwickdey.LiveServe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ana.org/number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neocities.org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unsplash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43335"/>
            <a:ext cx="1219200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+mj-lt"/>
              </a:rPr>
              <a:t>Web Basis</a:t>
            </a:r>
            <a:r>
              <a:rPr lang="ru-RU" sz="4400" b="1" dirty="0">
                <a:solidFill>
                  <a:schemeClr val="bg1"/>
                </a:solidFill>
                <a:latin typeface="+mj-lt"/>
              </a:rPr>
              <a:t>: </a:t>
            </a:r>
            <a:r>
              <a:rPr lang="ru-RU" sz="4400" b="1" dirty="0">
                <a:solidFill>
                  <a:srgbClr val="FFFF00"/>
                </a:solidFill>
                <a:latin typeface="+mj-lt"/>
              </a:rPr>
              <a:t>Разметка</a:t>
            </a:r>
            <a:endParaRPr lang="uk-UA" sz="4400" b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1" y="5684704"/>
            <a:ext cx="1219200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3200" b="1" dirty="0">
                <a:solidFill>
                  <a:schemeClr val="bg1"/>
                </a:solidFill>
                <a:cs typeface="Segoe UI Semibold" panose="020B0702040204020203" pitchFamily="34" charset="0"/>
              </a:rPr>
              <a:t>ORT</a:t>
            </a:r>
            <a:r>
              <a:rPr lang="en-US" sz="3200" b="1" dirty="0">
                <a:solidFill>
                  <a:srgbClr val="15DFED"/>
                </a:solidFill>
                <a:cs typeface="Segoe UI Semibold" panose="020B0702040204020203" pitchFamily="34" charset="0"/>
              </a:rPr>
              <a:t>DNIPRO</a:t>
            </a:r>
            <a:r>
              <a:rPr lang="en-US" sz="3200" b="1" dirty="0">
                <a:solidFill>
                  <a:schemeClr val="bg1"/>
                </a:solidFill>
                <a:cs typeface="Segoe UI Semibold" panose="020B0702040204020203" pitchFamily="34" charset="0"/>
              </a:rPr>
              <a:t>.ORG</a:t>
            </a:r>
            <a:r>
              <a:rPr lang="en-US" sz="3200" b="1" dirty="0">
                <a:solidFill>
                  <a:srgbClr val="17DDEC"/>
                </a:solidFill>
                <a:cs typeface="Segoe UI Semibold" panose="020B0702040204020203" pitchFamily="34" charset="0"/>
              </a:rPr>
              <a:t>/QA</a:t>
            </a:r>
            <a:endParaRPr lang="en-US" sz="3600" b="1" dirty="0">
              <a:solidFill>
                <a:srgbClr val="17DDEC"/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72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5157192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qa17</a:t>
            </a:r>
            <a:r>
              <a:rPr lang="en-US" sz="6000" b="1" dirty="0">
                <a:solidFill>
                  <a:srgbClr val="002060"/>
                </a:solidFill>
                <a:latin typeface="+mj-lt"/>
              </a:rPr>
              <a:t>.</a:t>
            </a:r>
            <a:r>
              <a:rPr lang="en-US" sz="6000" b="1" dirty="0">
                <a:solidFill>
                  <a:srgbClr val="00B050"/>
                </a:solidFill>
                <a:latin typeface="+mj-lt"/>
              </a:rPr>
              <a:t>site</a:t>
            </a:r>
            <a:endParaRPr lang="uk-UA" sz="54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136560" y="6165304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01505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>
                <a:solidFill>
                  <a:srgbClr val="0070C0"/>
                </a:solidFill>
              </a:rPr>
              <a:t>Наша группа</a:t>
            </a:r>
            <a:r>
              <a:rPr lang="en-US" sz="6600" b="1" dirty="0">
                <a:solidFill>
                  <a:srgbClr val="0070C0"/>
                </a:solidFill>
              </a:rPr>
              <a:t>:</a:t>
            </a:r>
            <a:r>
              <a:rPr lang="ru-RU" sz="6600" b="1" dirty="0">
                <a:solidFill>
                  <a:srgbClr val="0070C0"/>
                </a:solidFill>
              </a:rPr>
              <a:t> </a:t>
            </a:r>
            <a:r>
              <a:rPr lang="en-US" sz="8000" b="1" dirty="0">
                <a:solidFill>
                  <a:srgbClr val="C00000"/>
                </a:solidFill>
              </a:rPr>
              <a:t>QA17</a:t>
            </a:r>
            <a:endParaRPr lang="ru-RU" sz="6600" b="1" dirty="0">
              <a:solidFill>
                <a:srgbClr val="C00000"/>
              </a:solidFill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4511824" y="3501008"/>
            <a:ext cx="2997146" cy="1152128"/>
            <a:chOff x="5516438" y="3825044"/>
            <a:chExt cx="2997146" cy="1152128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6438" y="3825044"/>
              <a:ext cx="1152128" cy="11521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26" name="Picture 2" descr="https://image.flaticon.com/icons/png/512/25/25437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2755" y="3865693"/>
              <a:ext cx="1070829" cy="1070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Заголовок 1"/>
          <p:cNvSpPr txBox="1">
            <a:spLocks/>
          </p:cNvSpPr>
          <p:nvPr/>
        </p:nvSpPr>
        <p:spPr>
          <a:xfrm>
            <a:off x="2206302" y="18926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ru-RU" sz="4000" b="1" dirty="0"/>
              <a:t>Где взять материалы</a:t>
            </a:r>
            <a:r>
              <a:rPr lang="en-US" sz="4000" b="1" dirty="0"/>
              <a:t>?</a:t>
            </a:r>
            <a:endParaRPr lang="ru-RU" sz="40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906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32656"/>
            <a:ext cx="12192000" cy="997123"/>
          </a:xfrm>
        </p:spPr>
        <p:txBody>
          <a:bodyPr>
            <a:normAutofit/>
          </a:bodyPr>
          <a:lstStyle/>
          <a:p>
            <a:r>
              <a:rPr lang="ru-RU" sz="4000" b="1" dirty="0"/>
              <a:t>Что нам понадобиться?</a:t>
            </a:r>
            <a:endParaRPr lang="uk-UA" sz="4000" b="1" dirty="0"/>
          </a:p>
        </p:txBody>
      </p:sp>
      <p:sp>
        <p:nvSpPr>
          <p:cNvPr id="5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280576" y="6165304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3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3071664" y="1988840"/>
            <a:ext cx="5879357" cy="1271862"/>
            <a:chOff x="3669451" y="1199181"/>
            <a:chExt cx="5710042" cy="1271862"/>
          </a:xfrm>
        </p:grpSpPr>
        <p:sp>
          <p:nvSpPr>
            <p:cNvPr id="8" name="TextBox 7"/>
            <p:cNvSpPr txBox="1"/>
            <p:nvPr/>
          </p:nvSpPr>
          <p:spPr>
            <a:xfrm>
              <a:off x="6519675" y="1481169"/>
              <a:ext cx="28598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4000" b="1" dirty="0"/>
                <a:t>Браузер</a:t>
              </a:r>
              <a:r>
                <a:rPr lang="ru-RU" sz="4000" b="1" dirty="0">
                  <a:solidFill>
                    <a:srgbClr val="0070C0"/>
                  </a:solidFill>
                </a:rPr>
                <a:t>(ы)</a:t>
              </a:r>
            </a:p>
          </p:txBody>
        </p:sp>
        <p:grpSp>
          <p:nvGrpSpPr>
            <p:cNvPr id="20" name="Группа 19"/>
            <p:cNvGrpSpPr/>
            <p:nvPr/>
          </p:nvGrpSpPr>
          <p:grpSpPr>
            <a:xfrm>
              <a:off x="3669451" y="1199181"/>
              <a:ext cx="2424664" cy="1271862"/>
              <a:chOff x="1415479" y="1220886"/>
              <a:chExt cx="2424664" cy="1271862"/>
            </a:xfrm>
          </p:grpSpPr>
          <p:pic>
            <p:nvPicPr>
              <p:cNvPr id="14" name="Picture 6" descr="https://lh3.ggpht.com/O0aW5qsyCkR2i7Bu-jUU1b5BWA_NygJ6ui4MgaAvL7gfqvVWqkOBscDaq4pn-vkwByUx=w300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flipH="1">
                <a:off x="1415479" y="1250491"/>
                <a:ext cx="1242257" cy="1242257"/>
              </a:xfrm>
              <a:prstGeom prst="rect">
                <a:avLst/>
              </a:prstGeom>
              <a:noFill/>
            </p:spPr>
          </p:pic>
          <p:pic>
            <p:nvPicPr>
              <p:cNvPr id="15" name="Picture 6" descr="https://upload.wikimedia.org/wikipedia/commons/thumb/a/a0/Firefox_logo%2C_2019.svg/1200px-Firefox_logo%2C_2019.svg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98556" y="1220886"/>
                <a:ext cx="1318359" cy="1242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8" descr="https://upload.wikimedia.org/wikipedia/ru/thumb/9/98/Microsoft_Edge_logo_%282019%29.svg/1200px-Microsoft_Edge_logo_%282019%29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1070" y="1252365"/>
                <a:ext cx="1209073" cy="12090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" name="Группа 8"/>
          <p:cNvGrpSpPr/>
          <p:nvPr/>
        </p:nvGrpSpPr>
        <p:grpSpPr>
          <a:xfrm>
            <a:off x="2401775" y="4221088"/>
            <a:ext cx="7388450" cy="1603602"/>
            <a:chOff x="3084879" y="3875910"/>
            <a:chExt cx="7388450" cy="1603602"/>
          </a:xfrm>
        </p:grpSpPr>
        <p:sp>
          <p:nvSpPr>
            <p:cNvPr id="10" name="TextBox 9"/>
            <p:cNvSpPr txBox="1"/>
            <p:nvPr/>
          </p:nvSpPr>
          <p:spPr>
            <a:xfrm>
              <a:off x="4911708" y="3875910"/>
              <a:ext cx="46085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Visual Studio Code</a:t>
              </a:r>
              <a:endParaRPr lang="ru-RU" sz="40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784697" y="4509120"/>
              <a:ext cx="56886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2400" i="1" dirty="0"/>
                <a:t>Или любой другой текстовый редактор</a:t>
              </a:r>
              <a:endParaRPr lang="uk-UA" sz="2400" i="1" dirty="0"/>
            </a:p>
          </p:txBody>
        </p:sp>
        <p:pic>
          <p:nvPicPr>
            <p:cNvPr id="13" name="Picture 2" descr="Visual Studio Code — Википедия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4879" y="4000387"/>
              <a:ext cx="1479125" cy="147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/>
            <p:cNvSpPr/>
            <p:nvPr/>
          </p:nvSpPr>
          <p:spPr>
            <a:xfrm>
              <a:off x="4911708" y="4941168"/>
              <a:ext cx="482119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hlinkClick r:id="rId6"/>
                </a:rPr>
                <a:t>https://code.visualstudio.com/</a:t>
              </a:r>
              <a:endParaRPr lang="ru-RU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5092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/>
              <a:t>Поехали!</a:t>
            </a:r>
            <a:endParaRPr lang="uk-UA" sz="8000" b="1" dirty="0"/>
          </a:p>
        </p:txBody>
      </p:sp>
    </p:spTree>
    <p:extLst>
      <p:ext uri="{BB962C8B-B14F-4D97-AF65-F5344CB8AC3E}">
        <p14:creationId xmlns:p14="http://schemas.microsoft.com/office/powerpoint/2010/main" val="33177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36"/>
          <p:cNvSpPr txBox="1">
            <a:spLocks/>
          </p:cNvSpPr>
          <p:nvPr/>
        </p:nvSpPr>
        <p:spPr>
          <a:xfrm>
            <a:off x="11208568" y="623731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5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90" name="AutoShape 2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292" name="AutoShape 4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294" name="AutoShape 6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" name="Группа 4"/>
          <p:cNvGrpSpPr/>
          <p:nvPr/>
        </p:nvGrpSpPr>
        <p:grpSpPr>
          <a:xfrm>
            <a:off x="1" y="1498286"/>
            <a:ext cx="7176120" cy="4018946"/>
            <a:chOff x="0" y="1066238"/>
            <a:chExt cx="8035343" cy="4018946"/>
          </a:xfrm>
        </p:grpSpPr>
        <p:pic>
          <p:nvPicPr>
            <p:cNvPr id="17" name="Picture 2" descr="ÐÐ¾Ð²âÑÐ·Ð°Ð½Ðµ Ð·Ð¾Ð±ÑÐ°Ð¶ÐµÐ½Ð½Ñ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5134"/>
            <a:stretch/>
          </p:blipFill>
          <p:spPr bwMode="auto">
            <a:xfrm>
              <a:off x="0" y="1066238"/>
              <a:ext cx="1043608" cy="401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ÐÐ¾Ð²âÑÐ·Ð°Ð½Ðµ Ð·Ð¾Ð±ÑÐ°Ð¶ÐµÐ½Ð½Ñ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5071" y="1066238"/>
              <a:ext cx="7020272" cy="401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Прямоугольник 1"/>
          <p:cNvSpPr/>
          <p:nvPr/>
        </p:nvSpPr>
        <p:spPr>
          <a:xfrm>
            <a:off x="7752184" y="2060848"/>
            <a:ext cx="4104456" cy="26776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WWW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World Wide Web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ru-RU" sz="2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всемирная паутина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распределённый сервис дающий доступ к связанным документам – всего лишь одни из многих сервисов работающий в Интернете.</a:t>
            </a:r>
            <a:endParaRPr lang="uk-UA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35123" y="260651"/>
            <a:ext cx="780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3600" b="1" dirty="0"/>
              <a:t>orld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3600" b="1" dirty="0"/>
              <a:t>ide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3600" b="1" dirty="0"/>
              <a:t>eb / </a:t>
            </a:r>
            <a:r>
              <a:rPr lang="ru-RU" sz="3600" b="1" dirty="0"/>
              <a:t>Всемирная паутина</a:t>
            </a:r>
            <a:endParaRPr lang="uk-UA" sz="3600" b="1" dirty="0"/>
          </a:p>
        </p:txBody>
      </p:sp>
    </p:spTree>
    <p:extLst>
      <p:ext uri="{BB962C8B-B14F-4D97-AF65-F5344CB8AC3E}">
        <p14:creationId xmlns:p14="http://schemas.microsoft.com/office/powerpoint/2010/main" val="390451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36"/>
          <p:cNvSpPr txBox="1">
            <a:spLocks/>
          </p:cNvSpPr>
          <p:nvPr/>
        </p:nvSpPr>
        <p:spPr>
          <a:xfrm>
            <a:off x="11208568" y="6172200"/>
            <a:ext cx="648072" cy="41992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6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90" name="AutoShape 2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292" name="AutoShape 4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294" name="AutoShape 6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3" name="Группа 2"/>
          <p:cNvGrpSpPr/>
          <p:nvPr/>
        </p:nvGrpSpPr>
        <p:grpSpPr>
          <a:xfrm>
            <a:off x="1415480" y="1556792"/>
            <a:ext cx="9361040" cy="2880320"/>
            <a:chOff x="323529" y="1524000"/>
            <a:chExt cx="8496943" cy="2409056"/>
          </a:xfrm>
        </p:grpSpPr>
        <p:pic>
          <p:nvPicPr>
            <p:cNvPr id="16" name="Picture 2" descr="http://www.julepmedia.com/wp-content/uploads/2013/08/Julep-Media-Responsive-Website-on-Desktop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3529" y="2014373"/>
              <a:ext cx="2016224" cy="1702659"/>
            </a:xfrm>
            <a:prstGeom prst="rect">
              <a:avLst/>
            </a:prstGeom>
            <a:noFill/>
          </p:spPr>
        </p:pic>
        <p:pic>
          <p:nvPicPr>
            <p:cNvPr id="19463" name="Picture 7" descr="http://www.androidpolice.com/wp-content/uploads/2015/04/nexus2cee_thumb2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79712" y="1700808"/>
              <a:ext cx="648072" cy="648072"/>
            </a:xfrm>
            <a:prstGeom prst="rect">
              <a:avLst/>
            </a:prstGeom>
            <a:noFill/>
          </p:spPr>
        </p:pic>
        <p:sp>
          <p:nvSpPr>
            <p:cNvPr id="14" name="Двойная стрелка влево/вправо 13"/>
            <p:cNvSpPr/>
            <p:nvPr/>
          </p:nvSpPr>
          <p:spPr>
            <a:xfrm>
              <a:off x="3591584" y="2480997"/>
              <a:ext cx="2222277" cy="543272"/>
            </a:xfrm>
            <a:prstGeom prst="leftRightArrow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Picture 6" descr="http://muristech.com/wp-content/uploads/2014/05/HP-server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095511" y="1700808"/>
              <a:ext cx="1724961" cy="2232248"/>
            </a:xfrm>
            <a:prstGeom prst="rect">
              <a:avLst/>
            </a:prstGeom>
            <a:noFill/>
          </p:spPr>
        </p:pic>
        <p:pic>
          <p:nvPicPr>
            <p:cNvPr id="19" name="Picture 8" descr="https://media.licdn.com/mpr/mpr/shrink_200_200/AAEAAQAAAAAAAAcIAAAAJDUwZmI4N2IwLTZmNzctNDdmZS1hZTBiLWYxNTUwZDk2NmFiNQ.png"/>
            <p:cNvPicPr>
              <a:picLocks noChangeAspect="1" noChangeArrowheads="1"/>
            </p:cNvPicPr>
            <p:nvPr/>
          </p:nvPicPr>
          <p:blipFill>
            <a:blip r:embed="rId6" cstate="print"/>
            <a:srcRect l="20787" r="20787"/>
            <a:stretch>
              <a:fillRect/>
            </a:stretch>
          </p:blipFill>
          <p:spPr bwMode="auto">
            <a:xfrm>
              <a:off x="6854536" y="1524000"/>
              <a:ext cx="481950" cy="824880"/>
            </a:xfrm>
            <a:prstGeom prst="rect">
              <a:avLst/>
            </a:prstGeom>
            <a:noFill/>
          </p:spPr>
        </p:pic>
      </p:grpSp>
      <p:sp>
        <p:nvSpPr>
          <p:cNvPr id="17" name="TextBox 16"/>
          <p:cNvSpPr txBox="1"/>
          <p:nvPr/>
        </p:nvSpPr>
        <p:spPr>
          <a:xfrm>
            <a:off x="2235123" y="334397"/>
            <a:ext cx="780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3600" b="1" dirty="0"/>
              <a:t>orld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3600" b="1" dirty="0"/>
              <a:t>ide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3600" b="1" dirty="0"/>
              <a:t>eb / </a:t>
            </a:r>
            <a:r>
              <a:rPr lang="ru-RU" sz="3600" b="1" dirty="0"/>
              <a:t>Всемирная паутина</a:t>
            </a:r>
            <a:endParaRPr lang="uk-UA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55196" y="4820959"/>
            <a:ext cx="93949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 основе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WWW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лежит «общение» двух программ. 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Веб-сервер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программное обеспечение, принимающий 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запросы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от клиентов, обычно 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веб-браузеров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и выдающий им 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ответы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response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2564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36"/>
          <p:cNvSpPr txBox="1">
            <a:spLocks/>
          </p:cNvSpPr>
          <p:nvPr/>
        </p:nvSpPr>
        <p:spPr>
          <a:xfrm>
            <a:off x="11280576" y="6160080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90" name="AutoShape 2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292" name="AutoShape 4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294" name="AutoShape 6" descr="Картинки по запросу Apache Software Founda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0"/>
            <a:ext cx="12192000" cy="1119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4400" b="1" dirty="0"/>
              <a:t>Браузер / </a:t>
            </a:r>
            <a:r>
              <a:rPr lang="en-US" sz="4400" b="1" dirty="0"/>
              <a:t>HTTP</a:t>
            </a:r>
            <a:r>
              <a:rPr lang="ru-RU" sz="4400" b="1" dirty="0"/>
              <a:t>(</a:t>
            </a:r>
            <a:r>
              <a:rPr lang="en-US" sz="4400" b="1" dirty="0"/>
              <a:t>S)</a:t>
            </a:r>
            <a:r>
              <a:rPr lang="ru-RU" sz="4400" b="1" dirty="0"/>
              <a:t> / </a:t>
            </a:r>
            <a:r>
              <a:rPr lang="uk-UA" sz="4400" b="1" dirty="0"/>
              <a:t>В</a:t>
            </a:r>
            <a:r>
              <a:rPr lang="ru-RU" sz="4400" b="1" dirty="0"/>
              <a:t>еб-сервер</a:t>
            </a:r>
            <a:endParaRPr lang="ru-RU" sz="4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99456" y="4697849"/>
            <a:ext cx="102251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 основе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WWW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лежит «общение» двух программ. 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Веб-сервер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программное обеспечение, принимающий 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HTTP-запросы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от клиентов, обычно 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веб-браузеров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и выдающий им 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HTTP-ответы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как правило, вместе с 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HTML-страницей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изображением, или другими данными.  В основе работы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WWW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лежит протокол протокола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Hyper Text Transfer Protocol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  <a:endParaRPr lang="uk-UA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679575" y="1263983"/>
            <a:ext cx="8496943" cy="2702488"/>
            <a:chOff x="323529" y="1556792"/>
            <a:chExt cx="8496943" cy="2702488"/>
          </a:xfrm>
        </p:grpSpPr>
        <p:pic>
          <p:nvPicPr>
            <p:cNvPr id="16" name="Picture 2" descr="http://www.julepmedia.com/wp-content/uploads/2013/08/Julep-Media-Responsive-Website-on-Desktop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3529" y="2014373"/>
              <a:ext cx="2016224" cy="1702659"/>
            </a:xfrm>
            <a:prstGeom prst="rect">
              <a:avLst/>
            </a:prstGeom>
            <a:noFill/>
          </p:spPr>
        </p:pic>
        <p:pic>
          <p:nvPicPr>
            <p:cNvPr id="19463" name="Picture 7" descr="http://www.androidpolice.com/wp-content/uploads/2015/04/nexus2cee_thumb2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79712" y="1700808"/>
              <a:ext cx="648072" cy="648072"/>
            </a:xfrm>
            <a:prstGeom prst="rect">
              <a:avLst/>
            </a:prstGeom>
            <a:noFill/>
          </p:spPr>
        </p:pic>
        <p:sp>
          <p:nvSpPr>
            <p:cNvPr id="14" name="Двойная стрелка влево/вправо 13"/>
            <p:cNvSpPr/>
            <p:nvPr/>
          </p:nvSpPr>
          <p:spPr>
            <a:xfrm>
              <a:off x="2843808" y="2636912"/>
              <a:ext cx="4104456" cy="360040"/>
            </a:xfrm>
            <a:prstGeom prst="leftRightArrow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Picture 6" descr="http://muristech.com/wp-content/uploads/2014/05/HP-server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095511" y="1700808"/>
              <a:ext cx="1724961" cy="2232248"/>
            </a:xfrm>
            <a:prstGeom prst="rect">
              <a:avLst/>
            </a:prstGeom>
            <a:noFill/>
          </p:spPr>
        </p:pic>
        <p:pic>
          <p:nvPicPr>
            <p:cNvPr id="19" name="Picture 8" descr="https://media.licdn.com/mpr/mpr/shrink_200_200/AAEAAQAAAAAAAAcIAAAAJDUwZmI4N2IwLTZmNzctNDdmZS1hZTBiLWYxNTUwZDk2NmFiNQ.png"/>
            <p:cNvPicPr>
              <a:picLocks noChangeAspect="1" noChangeArrowheads="1"/>
            </p:cNvPicPr>
            <p:nvPr/>
          </p:nvPicPr>
          <p:blipFill>
            <a:blip r:embed="rId6" cstate="print"/>
            <a:srcRect l="20787" r="20787"/>
            <a:stretch>
              <a:fillRect/>
            </a:stretch>
          </p:blipFill>
          <p:spPr bwMode="auto">
            <a:xfrm>
              <a:off x="6948264" y="1556792"/>
              <a:ext cx="481950" cy="824880"/>
            </a:xfrm>
            <a:prstGeom prst="rect">
              <a:avLst/>
            </a:prstGeom>
            <a:noFill/>
          </p:spPr>
        </p:pic>
        <p:pic>
          <p:nvPicPr>
            <p:cNvPr id="1028" name="Picture 4" descr="https://i.iinfo.cz/images/420/http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6486" y="1676686"/>
              <a:ext cx="1482291" cy="8326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Ð ÐµÐ·ÑÐ»ÑÑÐ°Ñ Ð¿Ð¾ÑÑÐºÑ Ð·Ð¾Ð±ÑÐ°Ð¶ÐµÐ½Ñ Ð·Ð° Ð·Ð°Ð¿Ð¸ÑÐ¾Ð¼ &quot;html&quot;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3768" y="3140968"/>
              <a:ext cx="1118312" cy="1118312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2557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136560" y="6093296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8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Заголовок 1"/>
          <p:cNvSpPr txBox="1">
            <a:spLocks/>
          </p:cNvSpPr>
          <p:nvPr/>
        </p:nvSpPr>
        <p:spPr>
          <a:xfrm>
            <a:off x="1055440" y="623590"/>
            <a:ext cx="10225136" cy="1440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HTTP(S) </a:t>
            </a:r>
            <a:r>
              <a:rPr lang="en-US" sz="3200" dirty="0"/>
              <a:t>– </a:t>
            </a:r>
            <a:r>
              <a:rPr lang="ru-RU" sz="3200" dirty="0"/>
              <a:t>правила по которым «общаются» </a:t>
            </a:r>
            <a:br>
              <a:rPr lang="en-US" sz="3200" dirty="0"/>
            </a:br>
            <a:r>
              <a:rPr lang="ru-RU" sz="3200" b="1" dirty="0"/>
              <a:t>браузер</a:t>
            </a:r>
            <a:r>
              <a:rPr lang="ru-RU" sz="3200" dirty="0"/>
              <a:t> и </a:t>
            </a:r>
            <a:r>
              <a:rPr lang="ru-RU" sz="3200" b="1" dirty="0"/>
              <a:t>веб-сервер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87488" y="2495801"/>
            <a:ext cx="9793088" cy="58477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dirty="0"/>
              <a:t>1. </a:t>
            </a:r>
            <a:r>
              <a:rPr lang="ru-RU" sz="3200" dirty="0"/>
              <a:t>Браузер отправляет </a:t>
            </a:r>
            <a:r>
              <a:rPr lang="en-US" sz="3200" b="1" dirty="0"/>
              <a:t>HTTP-</a:t>
            </a:r>
            <a:r>
              <a:rPr lang="ru-RU" sz="3200" b="1" dirty="0"/>
              <a:t>запрос </a:t>
            </a:r>
            <a:r>
              <a:rPr lang="ru-RU" sz="3200" dirty="0"/>
              <a:t>(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REQUEST</a:t>
            </a:r>
            <a:r>
              <a:rPr lang="ru-RU" sz="3200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7488" y="3490846"/>
            <a:ext cx="9793088" cy="58477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2</a:t>
            </a:r>
            <a:r>
              <a:rPr lang="ru-RU" sz="3200" b="1" dirty="0"/>
              <a:t>. </a:t>
            </a:r>
            <a:r>
              <a:rPr lang="ru-RU" sz="3200" dirty="0"/>
              <a:t>Веб-сервер возвращает </a:t>
            </a:r>
            <a:r>
              <a:rPr lang="en-US" sz="3200" b="1" dirty="0"/>
              <a:t>HTTP-</a:t>
            </a:r>
            <a:r>
              <a:rPr lang="ru-RU" sz="3200" b="1" dirty="0"/>
              <a:t>ответ</a:t>
            </a:r>
            <a:r>
              <a:rPr lang="en-US" sz="3200" b="1" dirty="0"/>
              <a:t> </a:t>
            </a:r>
            <a:r>
              <a:rPr lang="en-US" sz="3200" dirty="0"/>
              <a:t>(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RESPONSE</a:t>
            </a:r>
            <a:r>
              <a:rPr lang="en-US" sz="3200" dirty="0"/>
              <a:t>)</a:t>
            </a:r>
            <a:endParaRPr lang="ru-R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487488" y="4440014"/>
            <a:ext cx="9793088" cy="107721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dirty="0"/>
              <a:t>3. </a:t>
            </a:r>
            <a:r>
              <a:rPr lang="ru-RU" sz="3200" dirty="0"/>
              <a:t>Веб-сервер вместе с </a:t>
            </a:r>
            <a:r>
              <a:rPr lang="en-US" sz="3200" b="1" dirty="0"/>
              <a:t>HTTP-</a:t>
            </a:r>
            <a:r>
              <a:rPr lang="ru-RU" sz="3200" b="1" dirty="0"/>
              <a:t>ответом </a:t>
            </a:r>
            <a:r>
              <a:rPr lang="ru-RU" sz="3200" dirty="0"/>
              <a:t>передаёт запрашиваемую веб-страницу</a:t>
            </a:r>
            <a:r>
              <a:rPr lang="en-US" sz="3200" dirty="0"/>
              <a:t> (</a:t>
            </a:r>
            <a:r>
              <a:rPr lang="ru-RU" sz="3200" i="1" dirty="0"/>
              <a:t>или другой ресурс</a:t>
            </a:r>
            <a:r>
              <a:rPr lang="en-US" sz="3200" dirty="0"/>
              <a:t>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0211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/>
              <a:t>1. Зачем нужен</a:t>
            </a:r>
            <a:endParaRPr lang="en-US" sz="8000" b="1" dirty="0"/>
          </a:p>
          <a:p>
            <a:pPr algn="ctr"/>
            <a:r>
              <a:rPr lang="ru-RU" sz="8000" b="1" dirty="0"/>
              <a:t> </a:t>
            </a:r>
            <a:r>
              <a:rPr lang="en-US" sz="8000" b="1" dirty="0"/>
              <a:t>HTML?</a:t>
            </a:r>
            <a:endParaRPr lang="uk-UA" sz="8000" b="1" dirty="0"/>
          </a:p>
        </p:txBody>
      </p:sp>
    </p:spTree>
    <p:extLst>
      <p:ext uri="{BB962C8B-B14F-4D97-AF65-F5344CB8AC3E}">
        <p14:creationId xmlns:p14="http://schemas.microsoft.com/office/powerpoint/2010/main" val="80305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10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79776" y="404665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Зачем нужен </a:t>
            </a:r>
            <a:r>
              <a:rPr lang="en-US" sz="3200" b="1" dirty="0"/>
              <a:t>HTML?</a:t>
            </a:r>
          </a:p>
        </p:txBody>
      </p:sp>
      <p:pic>
        <p:nvPicPr>
          <p:cNvPr id="1026" name="Picture 2" descr="https://static-content.springer.com/lookinside/art%3A10.1007%2FBF02838662/0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7448" y="38356"/>
            <a:ext cx="4554657" cy="68196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/>
          <p:cNvSpPr txBox="1"/>
          <p:nvPr/>
        </p:nvSpPr>
        <p:spPr>
          <a:xfrm>
            <a:off x="6888088" y="1196752"/>
            <a:ext cx="38164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HTML</a:t>
            </a:r>
            <a:r>
              <a:rPr lang="en-US" sz="2400" i="1" dirty="0"/>
              <a:t> </a:t>
            </a:r>
            <a:r>
              <a:rPr lang="ru-RU" sz="2400" i="1" dirty="0"/>
              <a:t>задумывался как средство переноса документации в электронный вид. Текстовый формат хорош для этого, но есть проблемы с оформлением текста…</a:t>
            </a:r>
          </a:p>
        </p:txBody>
      </p:sp>
      <p:pic>
        <p:nvPicPr>
          <p:cNvPr id="2" name="Picture 2" descr="Ð ÐµÐ·ÑÐ»ÑÑÐ°Ñ Ð¿Ð¾ÑÑÐºÑ Ð·Ð¾Ð±ÑÐ°Ð¶ÐµÐ½Ñ Ð·Ð° Ð·Ð°Ð¿Ð¸ÑÐ¾Ð¼ &quot;cern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6" y="4451052"/>
            <a:ext cx="1612652" cy="1612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577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81742" y="120785"/>
            <a:ext cx="828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HTML | </a:t>
            </a:r>
            <a:r>
              <a:rPr lang="ru-RU" sz="3200" b="1" dirty="0" err="1"/>
              <a:t>HyperText</a:t>
            </a:r>
            <a:r>
              <a:rPr lang="ru-RU" sz="3200" b="1" dirty="0"/>
              <a:t> </a:t>
            </a:r>
            <a:r>
              <a:rPr lang="ru-RU" sz="3200" b="1" dirty="0" err="1"/>
              <a:t>Markup</a:t>
            </a:r>
            <a:r>
              <a:rPr lang="ru-RU" sz="3200" b="1" dirty="0"/>
              <a:t> </a:t>
            </a:r>
            <a:r>
              <a:rPr lang="ru-RU" sz="3200" b="1" dirty="0" err="1"/>
              <a:t>Language</a:t>
            </a:r>
            <a:endParaRPr lang="en-US" sz="3200" b="1" dirty="0"/>
          </a:p>
        </p:txBody>
      </p:sp>
      <p:sp>
        <p:nvSpPr>
          <p:cNvPr id="5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11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103724" y="5253008"/>
            <a:ext cx="74526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i="1" dirty="0"/>
              <a:t>HTML</a:t>
            </a:r>
            <a:r>
              <a:rPr lang="ru-RU" sz="2400" i="1" dirty="0"/>
              <a:t> задаёт структуру документа (оборачивая фрагменты текста тегами) и оформление (которые теги задают обёрнутому тексту).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2504" y="921584"/>
            <a:ext cx="5715026" cy="1200329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Это заголовок </a:t>
            </a: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А это просто текст курсивом...</a:t>
            </a:r>
            <a:endParaRPr lang="uk-U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6493478" y="2318795"/>
            <a:ext cx="4812617" cy="2718188"/>
            <a:chOff x="4550537" y="1381065"/>
            <a:chExt cx="4748197" cy="2718188"/>
          </a:xfrm>
        </p:grpSpPr>
        <p:pic>
          <p:nvPicPr>
            <p:cNvPr id="1026" name="Picture 2" descr="Ð ÐµÐ·ÑÐ»ÑÑÐ°Ñ Ð¿Ð¾ÑÑÐºÑ Ð·Ð¾Ð±ÑÐ°Ð¶ÐµÐ½Ñ Ð·Ð° Ð·Ð°Ð¿Ð¸ÑÐ¾Ð¼ &quot;browser window&quot;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537" y="1381065"/>
              <a:ext cx="4118645" cy="2718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Прямоугольник 5"/>
            <p:cNvSpPr/>
            <p:nvPr/>
          </p:nvSpPr>
          <p:spPr>
            <a:xfrm>
              <a:off x="4726734" y="1791267"/>
              <a:ext cx="4572000" cy="12003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2400" dirty="0"/>
                <a:t>Это заголовок </a:t>
              </a:r>
            </a:p>
            <a:p>
              <a:endParaRPr lang="ru-RU" sz="2400" dirty="0"/>
            </a:p>
            <a:p>
              <a:r>
                <a:rPr lang="ru-RU" sz="2400" dirty="0"/>
                <a:t>А это просто текст курсивом...</a:t>
              </a:r>
              <a:endParaRPr lang="uk-UA" sz="2400" dirty="0"/>
            </a:p>
          </p:txBody>
        </p:sp>
      </p:grpSp>
      <p:sp>
        <p:nvSpPr>
          <p:cNvPr id="15" name="Стрелка вправо 14"/>
          <p:cNvSpPr/>
          <p:nvPr/>
        </p:nvSpPr>
        <p:spPr>
          <a:xfrm rot="2300017">
            <a:off x="5042783" y="2626907"/>
            <a:ext cx="1140161" cy="59943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9336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81742" y="120785"/>
            <a:ext cx="828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HTML | </a:t>
            </a:r>
            <a:r>
              <a:rPr lang="ru-RU" sz="3200" b="1" dirty="0" err="1"/>
              <a:t>HyperText</a:t>
            </a:r>
            <a:r>
              <a:rPr lang="ru-RU" sz="3200" b="1" dirty="0"/>
              <a:t> </a:t>
            </a:r>
            <a:r>
              <a:rPr lang="ru-RU" sz="3200" b="1" dirty="0" err="1"/>
              <a:t>Markup</a:t>
            </a:r>
            <a:r>
              <a:rPr lang="ru-RU" sz="3200" b="1" dirty="0"/>
              <a:t> </a:t>
            </a:r>
            <a:r>
              <a:rPr lang="ru-RU" sz="3200" b="1" dirty="0" err="1"/>
              <a:t>Language</a:t>
            </a:r>
            <a:endParaRPr lang="en-US" sz="3200" b="1" dirty="0"/>
          </a:p>
        </p:txBody>
      </p:sp>
      <p:sp>
        <p:nvSpPr>
          <p:cNvPr id="5" name="Номер слайда 36"/>
          <p:cNvSpPr txBox="1">
            <a:spLocks/>
          </p:cNvSpPr>
          <p:nvPr/>
        </p:nvSpPr>
        <p:spPr>
          <a:xfrm>
            <a:off x="11298486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103724" y="5253008"/>
            <a:ext cx="74526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i="1" dirty="0"/>
              <a:t>HTML</a:t>
            </a:r>
            <a:r>
              <a:rPr lang="ru-RU" sz="2400" i="1" dirty="0"/>
              <a:t> задаёт структуру документа (оборачивая фрагменты текста тегами) и оформление (которые теги задают обёрнутому тексту).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4767" y="953434"/>
            <a:ext cx="7096815" cy="1323439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Это заголовок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&lt;/h1&gt;</a:t>
            </a:r>
            <a:r>
              <a:rPr lang="ru-RU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А это просто текст курсивом...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uk-UA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6493478" y="2492896"/>
            <a:ext cx="4812617" cy="2718188"/>
            <a:chOff x="4550537" y="1555166"/>
            <a:chExt cx="4748197" cy="2718188"/>
          </a:xfrm>
        </p:grpSpPr>
        <p:pic>
          <p:nvPicPr>
            <p:cNvPr id="1026" name="Picture 2" descr="Ð ÐµÐ·ÑÐ»ÑÑÐ°Ñ Ð¿Ð¾ÑÑÐºÑ Ð·Ð¾Ð±ÑÐ°Ð¶ÐµÐ½Ñ Ð·Ð° Ð·Ð°Ð¿Ð¸ÑÐ¾Ð¼ &quot;browser window&quot;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537" y="1555166"/>
              <a:ext cx="4118645" cy="2718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Прямоугольник 5"/>
            <p:cNvSpPr/>
            <p:nvPr/>
          </p:nvSpPr>
          <p:spPr>
            <a:xfrm>
              <a:off x="4726734" y="1965368"/>
              <a:ext cx="4572000" cy="132343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3600" b="1" dirty="0"/>
                <a:t>Это заголовок </a:t>
              </a:r>
            </a:p>
            <a:p>
              <a:endParaRPr lang="ru-RU" sz="2400" dirty="0"/>
            </a:p>
            <a:p>
              <a:r>
                <a:rPr lang="ru-RU" sz="2000" i="1" dirty="0"/>
                <a:t>А это просто текст курсивом...</a:t>
              </a:r>
              <a:endParaRPr lang="uk-UA" sz="2000" i="1" dirty="0"/>
            </a:p>
          </p:txBody>
        </p:sp>
      </p:grpSp>
      <p:sp>
        <p:nvSpPr>
          <p:cNvPr id="15" name="Стрелка вправо 14"/>
          <p:cNvSpPr/>
          <p:nvPr/>
        </p:nvSpPr>
        <p:spPr>
          <a:xfrm rot="2300017">
            <a:off x="5119046" y="2781868"/>
            <a:ext cx="1140161" cy="59943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1551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63552" y="447753"/>
            <a:ext cx="828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HTML | </a:t>
            </a:r>
            <a:r>
              <a:rPr lang="ru-RU" sz="3200" b="1" dirty="0" err="1"/>
              <a:t>HyperText</a:t>
            </a:r>
            <a:r>
              <a:rPr lang="ru-RU" sz="3200" b="1" dirty="0"/>
              <a:t> </a:t>
            </a:r>
            <a:r>
              <a:rPr lang="ru-RU" sz="3200" b="1" dirty="0" err="1"/>
              <a:t>Markup</a:t>
            </a:r>
            <a:r>
              <a:rPr lang="ru-RU" sz="3200" b="1" dirty="0"/>
              <a:t> </a:t>
            </a:r>
            <a:r>
              <a:rPr lang="ru-RU" sz="3200" b="1" dirty="0" err="1"/>
              <a:t>Language</a:t>
            </a:r>
            <a:endParaRPr lang="en-US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315580" y="1268761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Данные</a:t>
            </a:r>
            <a:r>
              <a:rPr lang="ru-RU" sz="3600" dirty="0"/>
              <a:t> + </a:t>
            </a:r>
            <a:r>
              <a:rPr lang="ru-RU" sz="3600" dirty="0">
                <a:solidFill>
                  <a:srgbClr val="C00000"/>
                </a:solidFill>
              </a:rPr>
              <a:t>Метаданные</a:t>
            </a:r>
            <a:endParaRPr lang="uk-UA" sz="36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15580" y="3068961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&lt;title&gt; </a:t>
            </a:r>
            <a:r>
              <a:rPr lang="en-US" sz="3600" b="1" dirty="0"/>
              <a:t>Page title </a:t>
            </a:r>
            <a:r>
              <a:rPr lang="en-US" sz="3600" dirty="0">
                <a:solidFill>
                  <a:srgbClr val="C00000"/>
                </a:solidFill>
              </a:rPr>
              <a:t>&lt;/title&gt;</a:t>
            </a:r>
            <a:endParaRPr lang="uk-UA" sz="3600" dirty="0">
              <a:solidFill>
                <a:srgbClr val="C00000"/>
              </a:solidFill>
            </a:endParaRPr>
          </a:p>
        </p:txBody>
      </p:sp>
      <p:sp>
        <p:nvSpPr>
          <p:cNvPr id="5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13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15580" y="2206606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Текст </a:t>
            </a:r>
            <a:r>
              <a:rPr lang="ru-RU" sz="3600" dirty="0"/>
              <a:t>+ </a:t>
            </a:r>
            <a:r>
              <a:rPr lang="ru-RU" sz="3600" dirty="0">
                <a:solidFill>
                  <a:srgbClr val="C00000"/>
                </a:solidFill>
              </a:rPr>
              <a:t>Как текст отобразить</a:t>
            </a:r>
            <a:endParaRPr lang="uk-UA" sz="3600" dirty="0">
              <a:solidFill>
                <a:srgbClr val="C0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156272" y="4145012"/>
            <a:ext cx="82089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HTML</a:t>
            </a:r>
            <a:r>
              <a:rPr lang="ru-RU" sz="2400" dirty="0"/>
              <a:t> задаёт структуру документа (оборачивая фрагменты текста тегами) и оформление (которые теги задают обёрнутому тексту).</a:t>
            </a:r>
          </a:p>
          <a:p>
            <a:pPr algn="just"/>
            <a:endParaRPr lang="ru-RU" sz="2400" dirty="0"/>
          </a:p>
          <a:p>
            <a:r>
              <a:rPr lang="ru-RU" sz="2400" dirty="0"/>
              <a:t>Язык </a:t>
            </a:r>
            <a:r>
              <a:rPr lang="ru-RU" sz="2400" b="1" dirty="0"/>
              <a:t>HTML</a:t>
            </a:r>
            <a:r>
              <a:rPr lang="ru-RU" sz="2400" dirty="0"/>
              <a:t> </a:t>
            </a:r>
            <a:r>
              <a:rPr lang="ru-RU" sz="2400" b="1" dirty="0"/>
              <a:t>интерпретируется</a:t>
            </a:r>
            <a:r>
              <a:rPr lang="en-US" sz="2400" dirty="0"/>
              <a:t> </a:t>
            </a:r>
            <a:r>
              <a:rPr lang="ru-RU" sz="2400" dirty="0"/>
              <a:t>браузерами и </a:t>
            </a:r>
            <a:r>
              <a:rPr lang="ru-RU" sz="2400" i="1" dirty="0"/>
              <a:t>отображается в виде документа</a:t>
            </a:r>
            <a:r>
              <a:rPr lang="ru-RU" sz="2400" dirty="0"/>
              <a:t> в удобной для человека форме.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4232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Notepa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6687" y="1124744"/>
            <a:ext cx="3096491" cy="1258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11663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Текстовый редактор </a:t>
            </a:r>
            <a:r>
              <a:rPr lang="en-US" sz="3200" b="1" dirty="0"/>
              <a:t>| </a:t>
            </a:r>
            <a:r>
              <a:rPr lang="ru-RU" sz="3200" b="1" dirty="0"/>
              <a:t>Редактор кода</a:t>
            </a:r>
            <a:endParaRPr lang="uk-UA" sz="2400" b="1" dirty="0"/>
          </a:p>
        </p:txBody>
      </p:sp>
      <p:sp>
        <p:nvSpPr>
          <p:cNvPr id="5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14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4" descr="http://screenshots.en.sftcdn.net/en/scrn/31000/31829/notepad-06-700x48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5545" y="1922938"/>
            <a:ext cx="3538773" cy="2441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7320136" y="1074216"/>
            <a:ext cx="34501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HTML</a:t>
            </a:r>
            <a:r>
              <a:rPr lang="ru-RU" sz="2200" dirty="0"/>
              <a:t> – текстовый формат, и для его создания подойдёт любой текстовый редактор. </a:t>
            </a:r>
          </a:p>
          <a:p>
            <a:endParaRPr lang="ru-RU" sz="2200" dirty="0"/>
          </a:p>
          <a:p>
            <a:r>
              <a:rPr lang="ru-RU" sz="2200" dirty="0"/>
              <a:t>Однако для написания кода удобнее использовать редакторы с «подсветкой» синтаксиса.</a:t>
            </a:r>
          </a:p>
          <a:p>
            <a:endParaRPr lang="ru-RU" sz="2200" b="1" dirty="0"/>
          </a:p>
          <a:p>
            <a:r>
              <a:rPr lang="en-US" sz="2200" b="1" dirty="0"/>
              <a:t>Visual Studio Code </a:t>
            </a:r>
            <a:r>
              <a:rPr lang="ru-RU" sz="2200" dirty="0"/>
              <a:t>один из таких редакторов. </a:t>
            </a:r>
            <a:endParaRPr lang="uk-UA" sz="2200" dirty="0"/>
          </a:p>
        </p:txBody>
      </p:sp>
      <p:pic>
        <p:nvPicPr>
          <p:cNvPr id="2050" name="Picture 2" descr="GitHub - microsoft/vscode: Visual Studio Co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2861047"/>
            <a:ext cx="4598822" cy="3452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7352901" y="5549170"/>
            <a:ext cx="3499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hlinkClick r:id="rId5"/>
              </a:rPr>
              <a:t>https://code.visualstudio.com/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984260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/>
              <a:t>2. </a:t>
            </a:r>
            <a:r>
              <a:rPr lang="en-US" sz="8000" b="1" dirty="0"/>
              <a:t>HTML </a:t>
            </a:r>
            <a:r>
              <a:rPr lang="ru-RU" sz="8000" b="1" dirty="0"/>
              <a:t>документ</a:t>
            </a:r>
            <a:endParaRPr lang="uk-UA" sz="8000" b="1" dirty="0"/>
          </a:p>
        </p:txBody>
      </p:sp>
    </p:spTree>
    <p:extLst>
      <p:ext uri="{BB962C8B-B14F-4D97-AF65-F5344CB8AC3E}">
        <p14:creationId xmlns:p14="http://schemas.microsoft.com/office/powerpoint/2010/main" val="1663695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16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03713" y="35010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103926" y="1929026"/>
            <a:ext cx="75675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4000" b="1" dirty="0">
                <a:solidFill>
                  <a:srgbClr val="0070C0"/>
                </a:solidFill>
              </a:rPr>
              <a:t>&lt;tag </a:t>
            </a:r>
            <a:r>
              <a:rPr lang="sv-SE" sz="4000" b="1" dirty="0">
                <a:solidFill>
                  <a:srgbClr val="00B050"/>
                </a:solidFill>
              </a:rPr>
              <a:t>attr="value”</a:t>
            </a:r>
            <a:r>
              <a:rPr lang="sv-SE" sz="4000" b="1" dirty="0">
                <a:solidFill>
                  <a:srgbClr val="0070C0"/>
                </a:solidFill>
              </a:rPr>
              <a:t>&gt;</a:t>
            </a:r>
            <a:r>
              <a:rPr lang="sv-SE" sz="4000" b="1" dirty="0">
                <a:solidFill>
                  <a:schemeClr val="accent6">
                    <a:lumMod val="75000"/>
                  </a:schemeClr>
                </a:solidFill>
              </a:rPr>
              <a:t>Text data</a:t>
            </a:r>
            <a:r>
              <a:rPr lang="sv-SE" sz="4000" b="1" dirty="0">
                <a:solidFill>
                  <a:srgbClr val="0070C0"/>
                </a:solidFill>
              </a:rPr>
              <a:t>&lt;/tag&gt;</a:t>
            </a:r>
            <a:endParaRPr lang="ru-RU" sz="4000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03926" y="2780928"/>
            <a:ext cx="78805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ru-RU" sz="3200" b="1" dirty="0">
                <a:solidFill>
                  <a:srgbClr val="0070C0"/>
                </a:solidFill>
              </a:rPr>
              <a:t>Теги</a:t>
            </a:r>
            <a:r>
              <a:rPr lang="ru-RU" sz="3200" dirty="0"/>
              <a:t> как контейнер для блока текста </a:t>
            </a:r>
          </a:p>
          <a:p>
            <a:pPr marL="342900" indent="-342900"/>
            <a:r>
              <a:rPr lang="ru-RU" sz="3200" dirty="0"/>
              <a:t>	+ </a:t>
            </a:r>
            <a:r>
              <a:rPr lang="ru-RU" sz="3200" b="1" dirty="0">
                <a:solidFill>
                  <a:srgbClr val="00B050"/>
                </a:solidFill>
              </a:rPr>
              <a:t>атрибуты </a:t>
            </a:r>
            <a:r>
              <a:rPr lang="ru-RU" sz="3200" dirty="0"/>
              <a:t>(</a:t>
            </a:r>
            <a:r>
              <a:rPr lang="ru-RU" sz="3200" i="1" dirty="0"/>
              <a:t>свойства</a:t>
            </a:r>
            <a:r>
              <a:rPr lang="ru-RU" sz="3200" dirty="0"/>
              <a:t>, уточняют задачи тега, теги могут быть без атрибутов);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35560" y="4500410"/>
            <a:ext cx="77768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sz="3200" b="1" dirty="0">
                <a:solidFill>
                  <a:schemeClr val="accent6">
                    <a:lumMod val="75000"/>
                  </a:schemeClr>
                </a:solidFill>
              </a:rPr>
              <a:t>Текстовые</a:t>
            </a:r>
            <a:r>
              <a:rPr lang="ru-RU" sz="3200" dirty="0"/>
              <a:t> данные (содержимое, </a:t>
            </a:r>
            <a:r>
              <a:rPr lang="ru-RU" sz="3200" dirty="0" err="1"/>
              <a:t>контент</a:t>
            </a:r>
            <a:r>
              <a:rPr lang="ru-RU" sz="3200" dirty="0"/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9576" y="1412777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i="1" dirty="0"/>
              <a:t>состоит из: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5561" y="5288341"/>
            <a:ext cx="7880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ru-RU" sz="3200" b="1" dirty="0">
                <a:solidFill>
                  <a:srgbClr val="0070C0"/>
                </a:solidFill>
              </a:rPr>
              <a:t>Теги </a:t>
            </a:r>
            <a:r>
              <a:rPr lang="ru-RU" sz="3200" dirty="0"/>
              <a:t>могут быть парными и </a:t>
            </a:r>
            <a:r>
              <a:rPr lang="uk-UA" sz="3200" dirty="0" err="1"/>
              <a:t>непарными</a:t>
            </a:r>
            <a:r>
              <a:rPr lang="ru-RU" sz="3200" dirty="0"/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4775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HTML | </a:t>
            </a:r>
            <a:r>
              <a:rPr lang="ru-RU" sz="4000" b="1" dirty="0" err="1">
                <a:solidFill>
                  <a:srgbClr val="0070C0"/>
                </a:solidFill>
              </a:rPr>
              <a:t>HyperText</a:t>
            </a:r>
            <a:r>
              <a:rPr lang="ru-RU" sz="4000" b="1" dirty="0"/>
              <a:t> </a:t>
            </a:r>
            <a:r>
              <a:rPr lang="ru-RU" sz="4000" b="1" dirty="0" err="1">
                <a:solidFill>
                  <a:srgbClr val="00B050"/>
                </a:solidFill>
              </a:rPr>
              <a:t>Markup</a:t>
            </a:r>
            <a:r>
              <a:rPr lang="ru-RU" sz="4000" b="1" dirty="0"/>
              <a:t> </a:t>
            </a:r>
            <a:r>
              <a:rPr lang="ru-RU" sz="4000" b="1" dirty="0" err="1">
                <a:solidFill>
                  <a:schemeClr val="accent6">
                    <a:lumMod val="75000"/>
                  </a:schemeClr>
                </a:solidFill>
              </a:rPr>
              <a:t>Language</a:t>
            </a:r>
            <a:endParaRPr 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80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3265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HTML</a:t>
            </a:r>
            <a:r>
              <a:rPr lang="ru-RU" sz="3600" b="1" dirty="0"/>
              <a:t>-документ</a:t>
            </a:r>
            <a:r>
              <a:rPr lang="en-US" sz="3600" b="1" dirty="0"/>
              <a:t>…</a:t>
            </a:r>
            <a:endParaRPr lang="uk-UA" sz="28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b="6855"/>
          <a:stretch/>
        </p:blipFill>
        <p:spPr>
          <a:xfrm>
            <a:off x="1084243" y="1268760"/>
            <a:ext cx="10372753" cy="4824536"/>
          </a:xfrm>
          <a:prstGeom prst="rect">
            <a:avLst/>
          </a:prstGeom>
        </p:spPr>
      </p:pic>
      <p:sp>
        <p:nvSpPr>
          <p:cNvPr id="7" name="Номер слайда 36"/>
          <p:cNvSpPr txBox="1">
            <a:spLocks/>
          </p:cNvSpPr>
          <p:nvPr/>
        </p:nvSpPr>
        <p:spPr>
          <a:xfrm>
            <a:off x="11136560" y="6093296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093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3</a:t>
            </a:r>
            <a:r>
              <a:rPr lang="uk-UA" sz="6600" b="1" dirty="0"/>
              <a:t>. </a:t>
            </a:r>
            <a:r>
              <a:rPr lang="uk-UA" sz="6600" b="1" dirty="0" err="1"/>
              <a:t>Изображения</a:t>
            </a:r>
            <a:r>
              <a:rPr lang="uk-UA" sz="6600" b="1" dirty="0"/>
              <a:t> и </a:t>
            </a:r>
            <a:r>
              <a:rPr lang="uk-UA" sz="6600" b="1" dirty="0" err="1"/>
              <a:t>ссылки</a:t>
            </a:r>
            <a:endParaRPr lang="uk-UA" sz="6600" b="1" dirty="0"/>
          </a:p>
        </p:txBody>
      </p:sp>
    </p:spTree>
    <p:extLst>
      <p:ext uri="{BB962C8B-B14F-4D97-AF65-F5344CB8AC3E}">
        <p14:creationId xmlns:p14="http://schemas.microsoft.com/office/powerpoint/2010/main" val="1324903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404665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/>
              <a:t>Тег для вставки изображений</a:t>
            </a:r>
            <a:endParaRPr lang="uk-UA" sz="4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524000" y="213285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&lt;</a:t>
            </a:r>
            <a:r>
              <a:rPr lang="en-US" sz="4000" b="1" dirty="0" err="1">
                <a:solidFill>
                  <a:srgbClr val="0070C0"/>
                </a:solidFill>
              </a:rPr>
              <a:t>img</a:t>
            </a:r>
            <a:r>
              <a:rPr lang="ru-RU" sz="4000" b="1" dirty="0">
                <a:solidFill>
                  <a:srgbClr val="0070C0"/>
                </a:solidFill>
              </a:rPr>
              <a:t> </a:t>
            </a:r>
            <a:r>
              <a:rPr lang="en-US" sz="4000" b="1" dirty="0" err="1">
                <a:solidFill>
                  <a:srgbClr val="00B050"/>
                </a:solidFill>
              </a:rPr>
              <a:t>src</a:t>
            </a:r>
            <a:r>
              <a:rPr lang="en-US" sz="4000" b="1" dirty="0">
                <a:solidFill>
                  <a:srgbClr val="00B050"/>
                </a:solidFill>
              </a:rPr>
              <a:t>=“./cat.jpg”</a:t>
            </a:r>
            <a:r>
              <a:rPr lang="ru-RU" sz="4000" b="1" dirty="0">
                <a:solidFill>
                  <a:srgbClr val="00B050"/>
                </a:solidFill>
              </a:rPr>
              <a:t>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alt=“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</a:rPr>
              <a:t>Это кот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”</a:t>
            </a:r>
            <a:r>
              <a:rPr lang="en-US" sz="4000" b="1" dirty="0">
                <a:solidFill>
                  <a:srgbClr val="0070C0"/>
                </a:solidFill>
              </a:rPr>
              <a:t>&gt;</a:t>
            </a:r>
            <a:endParaRPr lang="uk-UA" sz="1600" dirty="0">
              <a:solidFill>
                <a:srgbClr val="0070C0"/>
              </a:solidFill>
            </a:endParaRPr>
          </a:p>
        </p:txBody>
      </p:sp>
      <p:sp>
        <p:nvSpPr>
          <p:cNvPr id="9" name="Номер слайда 36"/>
          <p:cNvSpPr txBox="1">
            <a:spLocks/>
          </p:cNvSpPr>
          <p:nvPr/>
        </p:nvSpPr>
        <p:spPr>
          <a:xfrm>
            <a:off x="11136560" y="6093296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19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79576" y="3573016"/>
            <a:ext cx="820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Тег </a:t>
            </a:r>
            <a:r>
              <a:rPr lang="en-US" sz="2400" b="1" dirty="0">
                <a:solidFill>
                  <a:srgbClr val="0070C0"/>
                </a:solidFill>
              </a:rPr>
              <a:t>&lt;</a:t>
            </a:r>
            <a:r>
              <a:rPr lang="en-US" sz="2400" b="1" dirty="0" err="1">
                <a:solidFill>
                  <a:srgbClr val="0070C0"/>
                </a:solidFill>
              </a:rPr>
              <a:t>img</a:t>
            </a:r>
            <a:r>
              <a:rPr lang="en-US" sz="2400" b="1" dirty="0">
                <a:solidFill>
                  <a:srgbClr val="0070C0"/>
                </a:solidFill>
              </a:rPr>
              <a:t>&gt; </a:t>
            </a:r>
            <a:r>
              <a:rPr lang="ru-RU" sz="2400" dirty="0"/>
              <a:t>непарный тег предназначен для вставки изображений на страницу (ссылка на файл с изображением указывается при помощи атрибута </a:t>
            </a:r>
            <a:r>
              <a:rPr lang="en-US" sz="2400" b="1" dirty="0" err="1">
                <a:solidFill>
                  <a:srgbClr val="00B050"/>
                </a:solidFill>
              </a:rPr>
              <a:t>src</a:t>
            </a:r>
            <a:r>
              <a:rPr lang="ru-RU" sz="2400" dirty="0"/>
              <a:t>)</a:t>
            </a:r>
            <a:r>
              <a:rPr lang="en-US" sz="2400" dirty="0"/>
              <a:t>. </a:t>
            </a:r>
            <a:r>
              <a:rPr lang="ru-RU" sz="2400" dirty="0"/>
              <a:t>Подробнее о других атрибутах тега: </a:t>
            </a:r>
            <a:r>
              <a:rPr lang="en-US" sz="2400" b="1" dirty="0">
                <a:hlinkClick r:id="rId3"/>
              </a:rPr>
              <a:t>https://webref.ru/html/img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382107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33058" y="453587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Тег для ссылок</a:t>
            </a:r>
            <a:endParaRPr lang="uk-UA" sz="4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935760" y="1746379"/>
            <a:ext cx="48245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&lt;a</a:t>
            </a:r>
            <a:r>
              <a:rPr lang="ru-RU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B050"/>
                </a:solidFill>
              </a:rPr>
              <a:t>href</a:t>
            </a:r>
            <a:r>
              <a:rPr lang="en-US" sz="3600" b="1" dirty="0">
                <a:solidFill>
                  <a:srgbClr val="00B050"/>
                </a:solidFill>
              </a:rPr>
              <a:t>=“http://itc.ua”</a:t>
            </a:r>
            <a:r>
              <a:rPr lang="en-US" sz="3600" b="1" dirty="0">
                <a:solidFill>
                  <a:srgbClr val="0070C0"/>
                </a:solidFill>
              </a:rPr>
              <a:t>&gt;</a:t>
            </a:r>
          </a:p>
          <a:p>
            <a:r>
              <a:rPr lang="en-US" sz="3600" b="1" dirty="0">
                <a:solidFill>
                  <a:srgbClr val="0070C0"/>
                </a:solidFill>
              </a:rPr>
              <a:t>	</a:t>
            </a:r>
            <a:r>
              <a:rPr lang="ru-RU" sz="3600" b="1" dirty="0">
                <a:solidFill>
                  <a:schemeClr val="accent6">
                    <a:lumMod val="75000"/>
                  </a:schemeClr>
                </a:solidFill>
              </a:rPr>
              <a:t>Перейти на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ITC</a:t>
            </a:r>
          </a:p>
          <a:p>
            <a:r>
              <a:rPr lang="en-US" sz="3600" b="1" dirty="0">
                <a:solidFill>
                  <a:srgbClr val="0070C0"/>
                </a:solidFill>
              </a:rPr>
              <a:t>&lt;/a&gt;</a:t>
            </a:r>
            <a:endParaRPr lang="uk-UA" sz="1400" dirty="0">
              <a:solidFill>
                <a:srgbClr val="0070C0"/>
              </a:solidFill>
            </a:endParaRPr>
          </a:p>
        </p:txBody>
      </p:sp>
      <p:sp>
        <p:nvSpPr>
          <p:cNvPr id="9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20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23592" y="3933056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Тег </a:t>
            </a:r>
            <a:r>
              <a:rPr lang="en-US" sz="2400" b="1" dirty="0">
                <a:solidFill>
                  <a:srgbClr val="0070C0"/>
                </a:solidFill>
              </a:rPr>
              <a:t>&lt;a&gt;</a:t>
            </a:r>
            <a:r>
              <a:rPr lang="en-US" sz="2400" b="1" dirty="0"/>
              <a:t> </a:t>
            </a:r>
            <a:r>
              <a:rPr lang="ru-RU" sz="2400" dirty="0"/>
              <a:t>парный тег предназначен для создания гиперссылок</a:t>
            </a:r>
            <a:r>
              <a:rPr lang="en-US" sz="2400" dirty="0"/>
              <a:t> </a:t>
            </a:r>
            <a:r>
              <a:rPr lang="ru-RU" sz="2400" dirty="0"/>
              <a:t>в </a:t>
            </a:r>
            <a:r>
              <a:rPr lang="en-US" sz="2400" dirty="0"/>
              <a:t>HTML</a:t>
            </a:r>
            <a:r>
              <a:rPr lang="ru-RU" sz="2400" dirty="0"/>
              <a:t> документе, адрес на который ведёт ссылка задаётся при помощи атрибута </a:t>
            </a:r>
            <a:r>
              <a:rPr lang="en-US" sz="2400" b="1" dirty="0" err="1">
                <a:solidFill>
                  <a:srgbClr val="00B050"/>
                </a:solidFill>
              </a:rPr>
              <a:t>href</a:t>
            </a:r>
            <a:r>
              <a:rPr lang="en-US" sz="2400" dirty="0"/>
              <a:t>. </a:t>
            </a:r>
            <a:r>
              <a:rPr lang="ru-RU" sz="2400" dirty="0"/>
              <a:t>Подробнее о других атрибутах тега: </a:t>
            </a:r>
            <a:r>
              <a:rPr lang="en-US" sz="2400" b="1" dirty="0">
                <a:hlinkClick r:id="rId3"/>
              </a:rPr>
              <a:t>https://webref.ru/html/a</a:t>
            </a:r>
            <a:endParaRPr lang="uk-UA" sz="2400" b="1" dirty="0"/>
          </a:p>
        </p:txBody>
      </p:sp>
    </p:spTree>
    <p:extLst>
      <p:ext uri="{BB962C8B-B14F-4D97-AF65-F5344CB8AC3E}">
        <p14:creationId xmlns:p14="http://schemas.microsoft.com/office/powerpoint/2010/main" val="501134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4. </a:t>
            </a:r>
            <a:r>
              <a:rPr lang="uk-UA" sz="6600" b="1" dirty="0"/>
              <a:t>Семантика </a:t>
            </a:r>
            <a:r>
              <a:rPr lang="en-US" sz="6600" b="1" dirty="0"/>
              <a:t>HTML</a:t>
            </a:r>
            <a:endParaRPr lang="uk-UA" sz="6600" b="1" dirty="0"/>
          </a:p>
        </p:txBody>
      </p:sp>
    </p:spTree>
    <p:extLst>
      <p:ext uri="{BB962C8B-B14F-4D97-AF65-F5344CB8AC3E}">
        <p14:creationId xmlns:p14="http://schemas.microsoft.com/office/powerpoint/2010/main" val="1861146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6"/>
          <p:cNvSpPr txBox="1">
            <a:spLocks/>
          </p:cNvSpPr>
          <p:nvPr/>
        </p:nvSpPr>
        <p:spPr>
          <a:xfrm>
            <a:off x="11280576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04112" y="1557838"/>
            <a:ext cx="38164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HTML 5.x </a:t>
            </a:r>
            <a:r>
              <a:rPr lang="ru-RU" sz="2800" dirty="0"/>
              <a:t>принёс ряд тегов, которые не несут оформления, но своими названиями поясняют смысловую нагрузку содержимого которое в них размещают.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6040" y="293747"/>
            <a:ext cx="5735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dirty="0"/>
              <a:t>Семантика </a:t>
            </a:r>
            <a:r>
              <a:rPr lang="en-US" sz="4800" b="1" dirty="0"/>
              <a:t>HTML</a:t>
            </a:r>
          </a:p>
        </p:txBody>
      </p:sp>
      <p:pic>
        <p:nvPicPr>
          <p:cNvPr id="1026" name="Picture 2" descr="http://rightblog.ru/wp-content/uploads/2015/09/HTML5-semantin-infografic_rightblog.ru_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" t="21715"/>
          <a:stretch/>
        </p:blipFill>
        <p:spPr bwMode="auto">
          <a:xfrm>
            <a:off x="0" y="0"/>
            <a:ext cx="6174418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7097216" y="5334307"/>
            <a:ext cx="41044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hlinkClick r:id="rId3"/>
              </a:rPr>
              <a:t>https://msiter.ru/tutorials/html5/semantic_elements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315431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5</a:t>
            </a:r>
            <a:r>
              <a:rPr lang="uk-UA" sz="6600" b="1" dirty="0"/>
              <a:t>. </a:t>
            </a:r>
            <a:r>
              <a:rPr lang="uk-UA" sz="6600" b="1" dirty="0" err="1"/>
              <a:t>Валидация</a:t>
            </a:r>
            <a:r>
              <a:rPr lang="uk-UA" sz="6600" b="1" dirty="0"/>
              <a:t> </a:t>
            </a:r>
            <a:r>
              <a:rPr lang="uk-UA" sz="6600" b="1" dirty="0" err="1"/>
              <a:t>разметки</a:t>
            </a:r>
            <a:endParaRPr lang="uk-UA" sz="6600" b="1" dirty="0"/>
          </a:p>
        </p:txBody>
      </p:sp>
    </p:spTree>
    <p:extLst>
      <p:ext uri="{BB962C8B-B14F-4D97-AF65-F5344CB8AC3E}">
        <p14:creationId xmlns:p14="http://schemas.microsoft.com/office/powerpoint/2010/main" val="4268157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8864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err="1"/>
              <a:t>Валидатор</a:t>
            </a:r>
            <a:r>
              <a:rPr lang="ru-RU" sz="4400" b="1" dirty="0"/>
              <a:t> разметки</a:t>
            </a:r>
            <a:r>
              <a:rPr lang="en-US" sz="4400" b="1" dirty="0"/>
              <a:t> (HTML)</a:t>
            </a:r>
            <a:r>
              <a:rPr lang="ru-RU" sz="4400" b="1" dirty="0"/>
              <a:t> от </a:t>
            </a:r>
            <a:r>
              <a:rPr lang="en-US" sz="4400" b="1" dirty="0"/>
              <a:t>W3C</a:t>
            </a:r>
            <a:endParaRPr lang="uk-UA" sz="4400" b="1" dirty="0"/>
          </a:p>
        </p:txBody>
      </p:sp>
      <p:sp>
        <p:nvSpPr>
          <p:cNvPr id="9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24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80" y="963870"/>
            <a:ext cx="9879840" cy="403334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575720" y="5940569"/>
            <a:ext cx="44721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hlinkClick r:id="rId3"/>
              </a:rPr>
              <a:t>https://validator.w3.org/</a:t>
            </a:r>
            <a:endParaRPr lang="ru-RU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2820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err="1"/>
              <a:t>Валидация</a:t>
            </a:r>
            <a:r>
              <a:rPr lang="ru-RU" sz="2800" dirty="0"/>
              <a:t> – проверка на соответствие (</a:t>
            </a:r>
            <a:r>
              <a:rPr lang="ru-RU" sz="2800" i="1" dirty="0"/>
              <a:t>проверка на корректность</a:t>
            </a:r>
            <a:r>
              <a:rPr lang="ru-R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3919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6</a:t>
            </a:r>
            <a:r>
              <a:rPr lang="ru-RU" sz="7200" b="1" dirty="0"/>
              <a:t>. Локальный веб-сервер</a:t>
            </a:r>
            <a:endParaRPr lang="uk-UA" sz="7200" b="1" dirty="0"/>
          </a:p>
        </p:txBody>
      </p:sp>
    </p:spTree>
    <p:extLst>
      <p:ext uri="{BB962C8B-B14F-4D97-AF65-F5344CB8AC3E}">
        <p14:creationId xmlns:p14="http://schemas.microsoft.com/office/powerpoint/2010/main" val="3580766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3776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Live Server</a:t>
            </a:r>
            <a:endParaRPr lang="uk-UA" sz="4800" b="1" dirty="0"/>
          </a:p>
        </p:txBody>
      </p:sp>
      <p:sp>
        <p:nvSpPr>
          <p:cNvPr id="9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26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43711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Live Server – </a:t>
            </a:r>
            <a:r>
              <a:rPr lang="ru-RU" sz="2400" dirty="0"/>
              <a:t>расширение</a:t>
            </a:r>
            <a:r>
              <a:rPr lang="uk-UA" sz="2400" dirty="0"/>
              <a:t> к </a:t>
            </a:r>
            <a:r>
              <a:rPr lang="en-US" sz="2400" b="1" dirty="0"/>
              <a:t>Visual Studio Code </a:t>
            </a:r>
            <a:r>
              <a:rPr lang="ru-RU" sz="2400" dirty="0"/>
              <a:t>позволяющая </a:t>
            </a:r>
            <a:br>
              <a:rPr lang="en-US" sz="2400" dirty="0"/>
            </a:br>
            <a:r>
              <a:rPr lang="ru-RU" sz="2400" dirty="0"/>
              <a:t>запускать локальный</a:t>
            </a:r>
            <a:r>
              <a:rPr lang="ru-RU" sz="2400" b="1" dirty="0"/>
              <a:t> веб-сервер</a:t>
            </a:r>
            <a:r>
              <a:rPr lang="ru-RU" sz="2400" dirty="0"/>
              <a:t> с целью отладки и тестирования</a:t>
            </a:r>
            <a:endParaRPr lang="uk-UA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566124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hlinkClick r:id="rId3"/>
              </a:rPr>
              <a:t>https://marketplace.visualstudio.com/items?itemName=ritwickdey.LiveServer</a:t>
            </a:r>
            <a:endParaRPr lang="ru-RU" sz="20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b="65395"/>
          <a:stretch/>
        </p:blipFill>
        <p:spPr>
          <a:xfrm>
            <a:off x="0" y="1803417"/>
            <a:ext cx="12201996" cy="20576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3965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7</a:t>
            </a:r>
            <a:r>
              <a:rPr lang="ru-RU" sz="8000" b="1" dirty="0"/>
              <a:t>. Хостинг</a:t>
            </a:r>
            <a:endParaRPr lang="uk-UA" sz="8000" b="1" dirty="0"/>
          </a:p>
        </p:txBody>
      </p:sp>
    </p:spTree>
    <p:extLst>
      <p:ext uri="{BB962C8B-B14F-4D97-AF65-F5344CB8AC3E}">
        <p14:creationId xmlns:p14="http://schemas.microsoft.com/office/powerpoint/2010/main" val="699795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208568" y="6165304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28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729" name="Picture 9" descr="http://drtapac.biz/wp-content/uploads/2016/05/crosley-11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3392" y="3354800"/>
            <a:ext cx="1679106" cy="1442352"/>
          </a:xfrm>
          <a:prstGeom prst="rect">
            <a:avLst/>
          </a:prstGeom>
          <a:noFill/>
        </p:spPr>
      </p:pic>
      <p:pic>
        <p:nvPicPr>
          <p:cNvPr id="14" name="Picture 2" descr="http://winetwork.ru/images/configure%20routers/static%20i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2" y="1124744"/>
            <a:ext cx="5107748" cy="2553874"/>
          </a:xfrm>
          <a:prstGeom prst="rect">
            <a:avLst/>
          </a:prstGeom>
          <a:noFill/>
        </p:spPr>
      </p:pic>
      <p:sp>
        <p:nvSpPr>
          <p:cNvPr id="2" name="Прямоугольник 1"/>
          <p:cNvSpPr/>
          <p:nvPr/>
        </p:nvSpPr>
        <p:spPr>
          <a:xfrm>
            <a:off x="2855640" y="4869160"/>
            <a:ext cx="69127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IP-</a:t>
            </a:r>
            <a:r>
              <a:rPr lang="ru-RU" sz="2800" b="1" dirty="0"/>
              <a:t>адрес</a:t>
            </a:r>
            <a:r>
              <a:rPr lang="uk-UA" sz="2800" b="1" dirty="0"/>
              <a:t> </a:t>
            </a:r>
            <a:r>
              <a:rPr lang="ru-RU" sz="2800" dirty="0"/>
              <a:t>уникальный сетевой адрес узла в компьютерной сети</a:t>
            </a:r>
            <a:r>
              <a:rPr lang="en-US" sz="2800" dirty="0"/>
              <a:t> (</a:t>
            </a:r>
            <a:r>
              <a:rPr lang="uk-UA" sz="2800" dirty="0" err="1"/>
              <a:t>Интернете</a:t>
            </a:r>
            <a:r>
              <a:rPr lang="en-US" sz="2800" dirty="0"/>
              <a:t>)</a:t>
            </a:r>
            <a:endParaRPr lang="uk-UA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290966"/>
            <a:ext cx="1219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Адресация в Интернете</a:t>
            </a:r>
            <a:r>
              <a:rPr lang="en-US" sz="3600" b="1" dirty="0"/>
              <a:t> / IP </a:t>
            </a:r>
            <a:r>
              <a:rPr lang="ru-RU" sz="3600" b="1" dirty="0"/>
              <a:t>адрес</a:t>
            </a:r>
            <a:endParaRPr lang="uk-UA" sz="3600" b="1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2423592" y="3826768"/>
            <a:ext cx="10092445" cy="4984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+mj-lt"/>
                <a:ea typeface="+mj-ea"/>
                <a:cs typeface="+mj-cs"/>
              </a:rPr>
              <a:t>IPv6:</a:t>
            </a:r>
            <a:r>
              <a:rPr lang="ru-RU" sz="3600" dirty="0"/>
              <a:t> </a:t>
            </a:r>
            <a:r>
              <a:rPr lang="en-US" sz="3600" b="1" dirty="0"/>
              <a:t>2001:0db8:11a3:09d7:1f34:8a2e:07a0:765d </a:t>
            </a:r>
            <a:r>
              <a:rPr lang="en-US" sz="3600" dirty="0"/>
              <a:t> </a:t>
            </a:r>
            <a:endParaRPr lang="uk-UA" sz="36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71464" y="1822883"/>
            <a:ext cx="6984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dirty="0"/>
              <a:t>IPv4: </a:t>
            </a:r>
            <a:r>
              <a:rPr lang="en-US" sz="3600" b="1" dirty="0"/>
              <a:t>77.222.150.27</a:t>
            </a:r>
            <a:r>
              <a:rPr lang="en-US" sz="3600" dirty="0"/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503712" y="5823267"/>
            <a:ext cx="54572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hlinkClick r:id="rId4"/>
              </a:rPr>
              <a:t>http://www.iana.org/numbers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912488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208568" y="6165304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29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Заголовок 1"/>
          <p:cNvSpPr txBox="1">
            <a:spLocks/>
          </p:cNvSpPr>
          <p:nvPr/>
        </p:nvSpPr>
        <p:spPr>
          <a:xfrm>
            <a:off x="2114872" y="130622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latin typeface="+mj-lt"/>
                <a:ea typeface="+mj-ea"/>
                <a:cs typeface="+mj-cs"/>
              </a:rPr>
              <a:t>DNS – </a:t>
            </a:r>
            <a:r>
              <a:rPr lang="ru-RU" sz="3200" b="1" dirty="0">
                <a:latin typeface="+mj-lt"/>
                <a:ea typeface="+mj-ea"/>
                <a:cs typeface="+mj-cs"/>
              </a:rPr>
              <a:t>всемирная «адресная книга»</a:t>
            </a:r>
            <a:endParaRPr lang="uk-UA" sz="3200" b="1" dirty="0">
              <a:latin typeface="+mj-lt"/>
              <a:ea typeface="+mj-ea"/>
              <a:cs typeface="+mj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003992" y="436510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wikipedia.org</a:t>
            </a:r>
            <a:endParaRPr lang="uk-UA" sz="3200" b="1" dirty="0"/>
          </a:p>
        </p:txBody>
      </p:sp>
      <p:sp>
        <p:nvSpPr>
          <p:cNvPr id="84" name="Прямоугольник 83"/>
          <p:cNvSpPr/>
          <p:nvPr/>
        </p:nvSpPr>
        <p:spPr>
          <a:xfrm>
            <a:off x="6820419" y="4365104"/>
            <a:ext cx="28039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91.198.174.192</a:t>
            </a:r>
            <a:endParaRPr lang="uk-UA" sz="3200" b="1" dirty="0"/>
          </a:p>
        </p:txBody>
      </p:sp>
      <p:sp>
        <p:nvSpPr>
          <p:cNvPr id="90" name="Стрелка вправо 89"/>
          <p:cNvSpPr/>
          <p:nvPr/>
        </p:nvSpPr>
        <p:spPr>
          <a:xfrm>
            <a:off x="5879976" y="4405460"/>
            <a:ext cx="724416" cy="504056"/>
          </a:xfrm>
          <a:prstGeom prst="rightArrow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9" name="TextBox 8"/>
          <p:cNvSpPr txBox="1"/>
          <p:nvPr/>
        </p:nvSpPr>
        <p:spPr>
          <a:xfrm>
            <a:off x="2857671" y="807095"/>
            <a:ext cx="6982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(Domain Name System</a:t>
            </a:r>
            <a:r>
              <a:rPr lang="ru-RU" sz="2400" b="1" dirty="0"/>
              <a:t> – Система Доменных Имён</a:t>
            </a:r>
            <a:r>
              <a:rPr lang="en-US" sz="2400" b="1" dirty="0"/>
              <a:t>) </a:t>
            </a:r>
            <a:endParaRPr lang="uk-UA" sz="2400" b="1" dirty="0"/>
          </a:p>
        </p:txBody>
      </p:sp>
      <p:pic>
        <p:nvPicPr>
          <p:cNvPr id="25602" name="Picture 2" descr="http://www.yellowpages.com.iq/img/yellow_page_pdf_bt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04728" y="1484784"/>
            <a:ext cx="3319264" cy="2524025"/>
          </a:xfrm>
          <a:prstGeom prst="rect">
            <a:avLst/>
          </a:prstGeom>
          <a:noFill/>
        </p:spPr>
      </p:pic>
      <p:pic>
        <p:nvPicPr>
          <p:cNvPr id="25606" name="Picture 6" descr="http://nicksherman.com/articles/bellCentennial/inUs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8048" y="1484784"/>
            <a:ext cx="3272880" cy="2454660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Прямоугольник 1"/>
          <p:cNvSpPr/>
          <p:nvPr/>
        </p:nvSpPr>
        <p:spPr>
          <a:xfrm>
            <a:off x="2836754" y="5180999"/>
            <a:ext cx="73825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Основная задача </a:t>
            </a:r>
            <a:r>
              <a:rPr lang="en-US" sz="2400" b="1" dirty="0"/>
              <a:t>DNS </a:t>
            </a:r>
            <a:r>
              <a:rPr lang="ru-RU" sz="2400" dirty="0"/>
              <a:t>сообщать </a:t>
            </a:r>
            <a:r>
              <a:rPr lang="en-US" sz="2400" b="1" dirty="0"/>
              <a:t>IP-</a:t>
            </a:r>
            <a:r>
              <a:rPr lang="ru-RU" sz="2400" b="1" dirty="0"/>
              <a:t>адрес </a:t>
            </a:r>
            <a:r>
              <a:rPr lang="ru-RU" sz="2400" dirty="0"/>
              <a:t>компьютера который скрывается под тем или иным доменным именем.</a:t>
            </a:r>
            <a:r>
              <a:rPr lang="en-US" sz="2400" dirty="0"/>
              <a:t> 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814180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35560" y="404665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NeoCities.org – </a:t>
            </a:r>
            <a:r>
              <a:rPr lang="ru-RU" sz="3600" b="1" dirty="0"/>
              <a:t>статический хостинг</a:t>
            </a:r>
            <a:endParaRPr lang="en-US" sz="3600" b="1" dirty="0"/>
          </a:p>
        </p:txBody>
      </p:sp>
      <p:sp>
        <p:nvSpPr>
          <p:cNvPr id="4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30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04112" y="1340768"/>
            <a:ext cx="34306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Статический хостинг </a:t>
            </a:r>
            <a:r>
              <a:rPr lang="ru-RU" sz="2000" dirty="0"/>
              <a:t>– хостинг которых предлагает только размещение файлов сайта. Подходит для сайтов которым не нужны серверные инструменты (например: </a:t>
            </a:r>
            <a:r>
              <a:rPr lang="en-US" sz="2000" dirty="0"/>
              <a:t>PHP </a:t>
            </a:r>
            <a:r>
              <a:rPr lang="ru-RU" sz="2000" dirty="0"/>
              <a:t>сценарии, база данных и т.п.).</a:t>
            </a:r>
            <a:endParaRPr lang="uk-UA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863676" y="4365104"/>
            <a:ext cx="34485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>
                <a:hlinkClick r:id="rId2"/>
              </a:rPr>
              <a:t>https://neocities.org/</a:t>
            </a:r>
            <a:endParaRPr lang="uk-UA" sz="28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302" y="1253890"/>
            <a:ext cx="4365323" cy="2895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799857" y="4941169"/>
            <a:ext cx="5400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i="1" dirty="0"/>
              <a:t>Примечание: </a:t>
            </a:r>
            <a:r>
              <a:rPr lang="ru-RU" sz="2000" i="1" dirty="0"/>
              <a:t>имя файла главной страницы должно быть </a:t>
            </a:r>
            <a:r>
              <a:rPr lang="en-US" sz="2000" b="1" i="1" dirty="0">
                <a:solidFill>
                  <a:srgbClr val="FF0000"/>
                </a:solidFill>
              </a:rPr>
              <a:t>index.html</a:t>
            </a:r>
            <a:r>
              <a:rPr lang="en-US" sz="2000" i="1" dirty="0"/>
              <a:t> </a:t>
            </a:r>
            <a:r>
              <a:rPr lang="ru-RU" sz="2000" i="1" dirty="0"/>
              <a:t>имена остальных страниц могут быть любыми.</a:t>
            </a:r>
            <a:endParaRPr lang="uk-UA" sz="2000" i="1" dirty="0"/>
          </a:p>
        </p:txBody>
      </p:sp>
    </p:spTree>
    <p:extLst>
      <p:ext uri="{BB962C8B-B14F-4D97-AF65-F5344CB8AC3E}">
        <p14:creationId xmlns:p14="http://schemas.microsoft.com/office/powerpoint/2010/main" val="3546912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600" b="1" dirty="0"/>
              <a:t>Будет полезным…</a:t>
            </a:r>
            <a:endParaRPr lang="uk-UA" sz="6600" b="1" dirty="0"/>
          </a:p>
        </p:txBody>
      </p:sp>
    </p:spTree>
    <p:extLst>
      <p:ext uri="{BB962C8B-B14F-4D97-AF65-F5344CB8AC3E}">
        <p14:creationId xmlns:p14="http://schemas.microsoft.com/office/powerpoint/2010/main" val="2709852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6"/>
          <p:cNvSpPr txBox="1">
            <a:spLocks/>
          </p:cNvSpPr>
          <p:nvPr/>
        </p:nvSpPr>
        <p:spPr>
          <a:xfrm>
            <a:off x="11280576" y="6192948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15680" y="4721055"/>
            <a:ext cx="61229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i="1" dirty="0"/>
              <a:t>Крупный фотобанк с </a:t>
            </a:r>
            <a:r>
              <a:rPr lang="ru-RU" sz="3200" b="1" i="1" dirty="0"/>
              <a:t>бесплатными</a:t>
            </a:r>
            <a:r>
              <a:rPr lang="ru-RU" sz="3200" i="1" dirty="0"/>
              <a:t> фотографиями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3215681" y="5805264"/>
            <a:ext cx="6122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hlinkClick r:id="rId2"/>
              </a:rPr>
              <a:t>https://unsplash.com/</a:t>
            </a:r>
            <a:endParaRPr lang="uk-UA" sz="36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33265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Фотобанк</a:t>
            </a:r>
            <a:r>
              <a:rPr lang="en-US" sz="4800" b="1" dirty="0"/>
              <a:t>  </a:t>
            </a:r>
            <a:r>
              <a:rPr lang="en-US" sz="4800" b="1" dirty="0" err="1"/>
              <a:t>Unsplash</a:t>
            </a:r>
            <a:endParaRPr lang="uk-UA" sz="48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1267599"/>
            <a:ext cx="6122931" cy="31915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689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0" y="594492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3333CC"/>
                </a:solidFill>
              </a:rPr>
              <a:t>https://webref.ru/html</a:t>
            </a:r>
            <a:endParaRPr lang="uk-UA" sz="3200" u="sng" dirty="0">
              <a:solidFill>
                <a:srgbClr val="3333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19038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Справочник по </a:t>
            </a:r>
            <a:r>
              <a:rPr lang="en-US" sz="3600" b="1" dirty="0"/>
              <a:t>HTML</a:t>
            </a:r>
          </a:p>
        </p:txBody>
      </p:sp>
      <p:sp>
        <p:nvSpPr>
          <p:cNvPr id="4" name="Номер слайда 36"/>
          <p:cNvSpPr txBox="1">
            <a:spLocks/>
          </p:cNvSpPr>
          <p:nvPr/>
        </p:nvSpPr>
        <p:spPr>
          <a:xfrm>
            <a:off x="11136560" y="6100419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33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7" y="929866"/>
            <a:ext cx="7952791" cy="48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044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3926</TotalTime>
  <Words>950</Words>
  <Application>Microsoft Office PowerPoint</Application>
  <PresentationFormat>Широкий екран</PresentationFormat>
  <Paragraphs>138</Paragraphs>
  <Slides>33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Тема Office</vt:lpstr>
      <vt:lpstr>Презентація PowerPoint</vt:lpstr>
      <vt:lpstr>Презентація PowerPoint</vt:lpstr>
      <vt:lpstr>Что нам понадобиться?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Вступление</dc:title>
  <dc:creator>user</dc:creator>
  <cp:lastModifiedBy>Anatoliy Kigel</cp:lastModifiedBy>
  <cp:revision>470</cp:revision>
  <dcterms:created xsi:type="dcterms:W3CDTF">2014-11-20T09:08:59Z</dcterms:created>
  <dcterms:modified xsi:type="dcterms:W3CDTF">2021-03-25T10:45:02Z</dcterms:modified>
</cp:coreProperties>
</file>